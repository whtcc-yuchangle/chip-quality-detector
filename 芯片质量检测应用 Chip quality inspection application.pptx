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media/image41.jpg" ContentType="image/jpeg"/>
  <Override PartName="/ppt/media/image42.jpg" ContentType="image/jpeg"/>
  <Override PartName="/ppt/media/image43.jpg" ContentType="image/jpeg"/>
  <Override PartName="/ppt/media/image44.jpg" ContentType="image/jpeg"/>
  <Override PartName="/ppt/media/image45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0" r:id="rId3"/>
    <p:sldId id="261" r:id="rId4"/>
    <p:sldId id="262" r:id="rId5"/>
    <p:sldId id="263" r:id="rId6"/>
    <p:sldId id="264" r:id="rId7"/>
    <p:sldId id="269" r:id="rId8"/>
    <p:sldId id="265" r:id="rId9"/>
    <p:sldId id="266" r:id="rId10"/>
    <p:sldId id="267" r:id="rId11"/>
    <p:sldId id="268" r:id="rId12"/>
    <p:sldId id="270" r:id="rId13"/>
    <p:sldId id="290" r:id="rId14"/>
    <p:sldId id="271" r:id="rId15"/>
    <p:sldId id="272" r:id="rId16"/>
    <p:sldId id="278" r:id="rId17"/>
    <p:sldId id="273" r:id="rId18"/>
    <p:sldId id="274" r:id="rId19"/>
    <p:sldId id="277" r:id="rId20"/>
    <p:sldId id="275" r:id="rId21"/>
    <p:sldId id="276" r:id="rId22"/>
    <p:sldId id="279" r:id="rId23"/>
    <p:sldId id="280" r:id="rId24"/>
    <p:sldId id="291" r:id="rId25"/>
    <p:sldId id="292" r:id="rId26"/>
    <p:sldId id="293" r:id="rId27"/>
    <p:sldId id="294" r:id="rId28"/>
    <p:sldId id="295" r:id="rId29"/>
    <p:sldId id="296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59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2A0"/>
    <a:srgbClr val="E2801E"/>
    <a:srgbClr val="E25535"/>
    <a:srgbClr val="D94F33"/>
    <a:srgbClr val="43AB54"/>
    <a:srgbClr val="101FFF"/>
    <a:srgbClr val="FE0000"/>
    <a:srgbClr val="7679F0"/>
    <a:srgbClr val="D5998E"/>
    <a:srgbClr val="D42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94" autoAdjust="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5ADD3-8E9D-4FD2-A8BC-85CF433C07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9BC79-0DD5-41F6-A591-E6BEFB3A68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1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4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398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12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C89AA-A222-85C7-A154-4BD57D18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3125FE-4ED2-CDD5-01AE-5AB166699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112DC2-EE21-7BA5-E86C-A9D5D9C97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DF9700-449E-C804-ADEE-7E2402F86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065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BE252-EF0C-A35F-A3D8-F53A19CE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144531-27C3-F738-EE1A-675EC31CB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9C09A5-A69F-729B-60FF-619DC3395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C51AB9-BDB2-D968-28EB-2EB905FEF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150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6D7D-5357-4549-DF13-0FF38163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DABBE9-0CA1-465A-1CBE-503707E1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B87D0-DF3C-014F-E46E-DD72499F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6674-0484-02A6-CAEF-6D4BBE79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346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A97A-F18D-75BE-2DA1-D2975506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F52529-784A-B9E4-A8C9-03977F7AC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C37C0B-B223-AD5B-6C01-B4E7BE0F7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A67794-4906-472B-28CE-94919172A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466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3338-FB90-3405-06D5-29C3872E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AF5245-C6D0-4311-87D6-8885600CA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35BA04-49DF-1937-BE42-2D207F4C6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9999E-AE9D-0B93-D7D0-270E21747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87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04BE-9184-AED5-F0B6-5DE2BC2A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62BCD5-8808-DB0B-C9F9-A8D01B1AB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82CAE3-03AD-07D5-A887-D01AA3C00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88C1CB-939B-874E-601E-EBBCB087C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451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7B010-2450-E1F5-5EA9-8DB71E7D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42A937-A6FA-716E-0674-2D45FB10F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6BFEFD-D166-E8E8-7627-3E812EC0D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554DF-00DE-1766-5969-7485D5433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667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A18C-E004-2DD9-E2D7-BF6E3A6A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DBA50B-7A82-AECD-7C00-F1F0F1312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815146-A4BD-859B-4274-958AB5FDC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7E7F83-BBDB-AFC1-A12D-0C563C369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95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1194-4B56-491D-5CB3-2B1F2D3A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84E35A-EB03-28F9-238F-D9685604D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D06B-A551-915B-4576-0AEA082D7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20F1F-6E6D-1A93-8F53-7ADDE6759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09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C89AA-A222-85C7-A154-4BD57D18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3125FE-4ED2-CDD5-01AE-5AB166699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112DC2-EE21-7BA5-E86C-A9D5D9C97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DF9700-449E-C804-ADEE-7E2402F86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84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6D7D-5357-4549-DF13-0FF38163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DABBE9-0CA1-465A-1CBE-503707E1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B87D0-DF3C-014F-E46E-DD72499F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6674-0484-02A6-CAEF-6D4BBE79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758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6D7D-5357-4549-DF13-0FF38163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DABBE9-0CA1-465A-1CBE-503707E1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B87D0-DF3C-014F-E46E-DD72499F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6674-0484-02A6-CAEF-6D4BBE79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25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04BE-9184-AED5-F0B6-5DE2BC2A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62BCD5-8808-DB0B-C9F9-A8D01B1AB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82CAE3-03AD-07D5-A887-D01AA3C00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88C1CB-939B-874E-601E-EBBCB087C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396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04BE-9184-AED5-F0B6-5DE2BC2A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62BCD5-8808-DB0B-C9F9-A8D01B1AB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82CAE3-03AD-07D5-A887-D01AA3C00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88C1CB-939B-874E-601E-EBBCB087C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321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A18C-E004-2DD9-E2D7-BF6E3A6A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DBA50B-7A82-AECD-7C00-F1F0F1312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815146-A4BD-859B-4274-958AB5FDC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7E7F83-BBDB-AFC1-A12D-0C563C369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2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2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2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2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2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8C9782E-F456-39E4-B5F0-0223E8B65D7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5" name="图片 4" descr="/Users/imac/Library/Containers/com.kingsoft.wpsoffice.mac/Data/tmp/picturecompress_20241213185745/output_1.pngoutput_1">
            <a:extLst>
              <a:ext uri="{FF2B5EF4-FFF2-40B4-BE49-F238E27FC236}">
                <a16:creationId xmlns:a16="http://schemas.microsoft.com/office/drawing/2014/main" id="{C2CE6312-FFC8-8AA0-6AD5-D7BABCE5C3B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68456" y="4876307"/>
            <a:ext cx="7654446" cy="1886443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09AC634D-9175-BA03-7B47-2859FD71FB20}"/>
              </a:ext>
            </a:extLst>
          </p:cNvPr>
          <p:cNvGrpSpPr/>
          <p:nvPr userDrawn="1"/>
        </p:nvGrpSpPr>
        <p:grpSpPr>
          <a:xfrm>
            <a:off x="2383771" y="1685980"/>
            <a:ext cx="7422515" cy="1365111"/>
            <a:chOff x="2383771" y="1685980"/>
            <a:chExt cx="7422515" cy="136511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A7CFE06-73FC-8599-2883-FD9F6954653C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2700640" y="1685980"/>
              <a:ext cx="6788785" cy="70788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芯片质量检测应用</a:t>
              </a:r>
              <a:endParaRPr lang="en-US" altLang="zh-CN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3C0BF4-A5D9-EBBA-9864-528072F499FB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2383771" y="2466316"/>
              <a:ext cx="7422515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Chip quality inspection application </a:t>
              </a:r>
              <a:endParaRPr lang="zh-CN" altLang="en-US" sz="32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A61BF40-6E99-A68B-26B4-B94EAABDC752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4159477" y="4247184"/>
            <a:ext cx="3871105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余昌乐</a:t>
            </a:r>
            <a:r>
              <a:rPr lang="en-US" altLang="zh-CN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	   Yu </a:t>
            </a:r>
            <a:r>
              <a:rPr lang="en-US" altLang="zh-CN" sz="1800" b="1" dirty="0" err="1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Changle</a:t>
            </a:r>
            <a:r>
              <a:rPr lang="en-US" altLang="zh-CN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800" b="1" dirty="0">
              <a:solidFill>
                <a:srgbClr val="2152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321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EF15116-90B7-8067-5DC0-959A059F56A0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9A4D8E3-FAF8-803A-0C61-ECE3CD3652E8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8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4C88A70-2537-6D19-7998-EAE6D6AFB9FD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9DF5711-BEC7-0D5F-B990-5A674810041A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37462C2-54F2-7028-8482-9CCE3153B1E7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391C225-32A1-C422-292B-42FA889791F1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B414AE2-C9B4-8397-B2CD-5B312CAF70C3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4C2D982-4946-BCC2-C0F8-5C3BE9C46E00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203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6D3549E-9F98-74D0-D796-D695D0A6F838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184359A-10E4-D636-E019-CB4536A8F62A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2E9C038-4885-8354-0F30-C104A9FC53E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F85F49B-1BB4-71DD-78FE-AF724D70ED7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4582358-E9F2-2716-1F75-FCF15650001E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AB64AEA-9AE9-3A2F-E9E9-E68123042A71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153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FB787B7-939E-600A-48A3-47A9201713B0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1DFBE8A-968F-BCC6-91D2-6C82D11A9306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83266A3-8CE1-9D4F-C89D-B8A365B743BF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88B3306-BA6F-145E-C2A8-4FCAD46F3209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2CAEB11-972A-E85A-F1CB-22D854BBAA58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191A74C-CE90-3543-F9D0-5EFE2B139F04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44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EC53CA4-F3DE-5EEB-0579-30B8203719D4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D4CB1E6-B717-3F7A-1716-F2A5B23F155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A63D03A-9E4C-E759-52E3-4CB14BFEA6CA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3F25B1E-E1D4-5CC2-947C-CB921570790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E721C0A-7A4A-DB9D-2B62-C2F02CEA79CB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34257C0-2599-E5B5-D55D-4F18DA082047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991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EC53CA4-F3DE-5EEB-0579-30B8203719D4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D4CB1E6-B717-3F7A-1716-F2A5B23F155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A63D03A-9E4C-E759-52E3-4CB14BFEA6CA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3F25B1E-E1D4-5CC2-947C-CB921570790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E721C0A-7A4A-DB9D-2B62-C2F02CEA79CB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34257C0-2599-E5B5-D55D-4F18DA082047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403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模型训练回顾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Model Training Review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63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02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模型效果分析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Model Performance Analysis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703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03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项目应用简介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Application Overview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80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04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项目应用实现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Application Implementation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5413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05 AI &amp;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计算机视觉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AI &amp; Computer Vision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6280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A2D34C-8D4A-8AE7-481A-1047DEE32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8" name="图片 7" descr="/Users/imac/Library/Containers/com.kingsoft.wpsoffice.mac/Data/tmp/picturecompress_20241213185745/output_18.pngoutput_18">
            <a:extLst>
              <a:ext uri="{FF2B5EF4-FFF2-40B4-BE49-F238E27FC236}">
                <a16:creationId xmlns:a16="http://schemas.microsoft.com/office/drawing/2014/main" id="{25C4E88A-9A50-F24D-6E14-E24B7BD684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992309" y="4453255"/>
            <a:ext cx="8206740" cy="23094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C14159-CD7B-2013-3CCD-70008441D3C2}"/>
              </a:ext>
            </a:extLst>
          </p:cNvPr>
          <p:cNvSpPr txBox="1"/>
          <p:nvPr userDrawn="1"/>
        </p:nvSpPr>
        <p:spPr>
          <a:xfrm>
            <a:off x="2701285" y="2232831"/>
            <a:ext cx="6788785" cy="710451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6BAC1E-72D1-4C68-8026-226310C267B6}"/>
              </a:ext>
            </a:extLst>
          </p:cNvPr>
          <p:cNvSpPr txBox="1"/>
          <p:nvPr userDrawn="1"/>
        </p:nvSpPr>
        <p:spPr>
          <a:xfrm>
            <a:off x="3668391" y="3000599"/>
            <a:ext cx="485457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  <a:cs typeface="Lato Medium" panose="020F0502020204030203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98536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27">
            <a:extLst>
              <a:ext uri="{FF2B5EF4-FFF2-40B4-BE49-F238E27FC236}">
                <a16:creationId xmlns:a16="http://schemas.microsoft.com/office/drawing/2014/main" id="{BD7EB354-5402-F955-1E0D-DBEE2B6321FF}"/>
              </a:ext>
            </a:extLst>
          </p:cNvPr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screen"/>
          <a:stretch>
            <a:fillRect/>
          </a:stretch>
        </p:blipFill>
        <p:spPr>
          <a:xfrm>
            <a:off x="0" y="6762750"/>
            <a:ext cx="1219136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4" r:id="rId3"/>
    <p:sldLayoutId id="2147483665" r:id="rId4"/>
    <p:sldLayoutId id="2147483666" r:id="rId5"/>
    <p:sldLayoutId id="2147483667" r:id="rId6"/>
    <p:sldLayoutId id="2147483671" r:id="rId7"/>
    <p:sldLayoutId id="2147483652" r:id="rId8"/>
    <p:sldLayoutId id="2147483668" r:id="rId9"/>
    <p:sldLayoutId id="2147483669" r:id="rId10"/>
    <p:sldLayoutId id="2147483670" r:id="rId11"/>
    <p:sldLayoutId id="2147483672" r:id="rId12"/>
    <p:sldLayoutId id="214748365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2.jp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ee.com/yuchangle-whtcc/chip-quality-detector" TargetMode="External"/><Relationship Id="rId5" Type="http://schemas.openxmlformats.org/officeDocument/2006/relationships/hyperlink" Target="https://github.com/whtcc-yuchangle/chip-quality-detector" TargetMode="Externa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97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13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2C1B4CFC-6A6C-9BCC-140F-381FA1271C21}"/>
              </a:ext>
            </a:extLst>
          </p:cNvPr>
          <p:cNvGrpSpPr/>
          <p:nvPr/>
        </p:nvGrpSpPr>
        <p:grpSpPr>
          <a:xfrm>
            <a:off x="737754" y="2253671"/>
            <a:ext cx="2213187" cy="2983347"/>
            <a:chOff x="737754" y="2253671"/>
            <a:chExt cx="2213187" cy="2983347"/>
          </a:xfrm>
        </p:grpSpPr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C7AB391A-A6DD-61CC-5CC8-D56C5E2FBCEA}"/>
                </a:ext>
              </a:extLst>
            </p:cNvPr>
            <p:cNvSpPr/>
            <p:nvPr/>
          </p:nvSpPr>
          <p:spPr>
            <a:xfrm>
              <a:off x="737754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3B82F6"/>
            </a:solidFill>
            <a:ln/>
          </p:spPr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8B4907B0-80A4-5A90-A718-AC9F67DE3248}"/>
                </a:ext>
              </a:extLst>
            </p:cNvPr>
            <p:cNvSpPr/>
            <p:nvPr/>
          </p:nvSpPr>
          <p:spPr>
            <a:xfrm>
              <a:off x="737754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数据采集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2552C254-13BF-00F4-2FF9-784100CBEE36}"/>
                </a:ext>
              </a:extLst>
            </p:cNvPr>
            <p:cNvSpPr/>
            <p:nvPr/>
          </p:nvSpPr>
          <p:spPr>
            <a:xfrm>
              <a:off x="737754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Collection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4C35C34B-51A8-982A-BAEC-5B65D9AE5E41}"/>
                </a:ext>
              </a:extLst>
            </p:cNvPr>
            <p:cNvSpPr/>
            <p:nvPr/>
          </p:nvSpPr>
          <p:spPr>
            <a:xfrm>
              <a:off x="2601491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64C09E5-425E-00BA-E539-0F483C152CB9}"/>
              </a:ext>
            </a:extLst>
          </p:cNvPr>
          <p:cNvGrpSpPr/>
          <p:nvPr/>
        </p:nvGrpSpPr>
        <p:grpSpPr>
          <a:xfrm>
            <a:off x="2950943" y="2253671"/>
            <a:ext cx="2213187" cy="2983347"/>
            <a:chOff x="2950943" y="2253671"/>
            <a:chExt cx="2213187" cy="2983347"/>
          </a:xfrm>
        </p:grpSpPr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2B706C50-74AC-492D-9531-EDDE7DE032BB}"/>
                </a:ext>
              </a:extLst>
            </p:cNvPr>
            <p:cNvSpPr/>
            <p:nvPr/>
          </p:nvSpPr>
          <p:spPr>
            <a:xfrm>
              <a:off x="2950943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8B5CF6"/>
            </a:solidFill>
            <a:ln/>
          </p:spPr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0C7C04E6-023D-5E54-799A-F94FD00718CD}"/>
                </a:ext>
              </a:extLst>
            </p:cNvPr>
            <p:cNvSpPr/>
            <p:nvPr/>
          </p:nvSpPr>
          <p:spPr>
            <a:xfrm>
              <a:off x="2950943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数据清洗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55B972AC-46C1-C8D8-EF43-DE5091784ED5}"/>
                </a:ext>
              </a:extLst>
            </p:cNvPr>
            <p:cNvSpPr/>
            <p:nvPr/>
          </p:nvSpPr>
          <p:spPr>
            <a:xfrm>
              <a:off x="2950943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Cleaning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Shape 11">
              <a:extLst>
                <a:ext uri="{FF2B5EF4-FFF2-40B4-BE49-F238E27FC236}">
                  <a16:creationId xmlns:a16="http://schemas.microsoft.com/office/drawing/2014/main" id="{1FE65764-C181-3614-48B6-6A25D648E366}"/>
                </a:ext>
              </a:extLst>
            </p:cNvPr>
            <p:cNvSpPr/>
            <p:nvPr/>
          </p:nvSpPr>
          <p:spPr>
            <a:xfrm>
              <a:off x="4814680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58BCEF1-CDA3-2AF4-2AD3-61FEAFFF8F62}"/>
              </a:ext>
            </a:extLst>
          </p:cNvPr>
          <p:cNvGrpSpPr/>
          <p:nvPr/>
        </p:nvGrpSpPr>
        <p:grpSpPr>
          <a:xfrm>
            <a:off x="5164130" y="2253671"/>
            <a:ext cx="2213189" cy="2983347"/>
            <a:chOff x="5164130" y="2253671"/>
            <a:chExt cx="2213189" cy="2983347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D8E243DA-7692-388E-8443-7E80F98A52EE}"/>
                </a:ext>
              </a:extLst>
            </p:cNvPr>
            <p:cNvSpPr/>
            <p:nvPr/>
          </p:nvSpPr>
          <p:spPr>
            <a:xfrm>
              <a:off x="5164130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EC4899"/>
            </a:solidFill>
            <a:ln/>
          </p:spPr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79BD1417-7109-08B5-F183-139A01C2D8E5}"/>
                </a:ext>
              </a:extLst>
            </p:cNvPr>
            <p:cNvSpPr/>
            <p:nvPr/>
          </p:nvSpPr>
          <p:spPr>
            <a:xfrm>
              <a:off x="5164130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数据标注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FAE4F317-1282-FF10-A8A3-556F587B36B3}"/>
                </a:ext>
              </a:extLst>
            </p:cNvPr>
            <p:cNvSpPr/>
            <p:nvPr/>
          </p:nvSpPr>
          <p:spPr>
            <a:xfrm>
              <a:off x="5164130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Annotation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A979C65D-1ED9-3DC1-0FA6-532E7C88E8D7}"/>
                </a:ext>
              </a:extLst>
            </p:cNvPr>
            <p:cNvSpPr/>
            <p:nvPr/>
          </p:nvSpPr>
          <p:spPr>
            <a:xfrm>
              <a:off x="7027869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B040D3B-319F-2B24-36B4-2F56ED49F3CB}"/>
              </a:ext>
            </a:extLst>
          </p:cNvPr>
          <p:cNvGrpSpPr/>
          <p:nvPr/>
        </p:nvGrpSpPr>
        <p:grpSpPr>
          <a:xfrm>
            <a:off x="7377319" y="2253671"/>
            <a:ext cx="2213187" cy="2983347"/>
            <a:chOff x="7377319" y="2253671"/>
            <a:chExt cx="2213187" cy="2983347"/>
          </a:xfrm>
        </p:grpSpPr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968DE899-30AD-20C0-FFC3-26586D1DB923}"/>
                </a:ext>
              </a:extLst>
            </p:cNvPr>
            <p:cNvSpPr/>
            <p:nvPr/>
          </p:nvSpPr>
          <p:spPr>
            <a:xfrm>
              <a:off x="7377319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F59E0B"/>
            </a:solidFill>
            <a:ln/>
          </p:spPr>
        </p:sp>
        <p:sp>
          <p:nvSpPr>
            <p:cNvPr id="43" name="Text 19">
              <a:extLst>
                <a:ext uri="{FF2B5EF4-FFF2-40B4-BE49-F238E27FC236}">
                  <a16:creationId xmlns:a16="http://schemas.microsoft.com/office/drawing/2014/main" id="{9F536BE9-F9B5-A8BC-3ED6-A39D512B1814}"/>
                </a:ext>
              </a:extLst>
            </p:cNvPr>
            <p:cNvSpPr/>
            <p:nvPr/>
          </p:nvSpPr>
          <p:spPr>
            <a:xfrm>
              <a:off x="7377319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模型训练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FBF6930B-AB89-BEC6-D1E0-FE4FE93A93B6}"/>
                </a:ext>
              </a:extLst>
            </p:cNvPr>
            <p:cNvSpPr/>
            <p:nvPr/>
          </p:nvSpPr>
          <p:spPr>
            <a:xfrm>
              <a:off x="7377319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Training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Shape 21">
              <a:extLst>
                <a:ext uri="{FF2B5EF4-FFF2-40B4-BE49-F238E27FC236}">
                  <a16:creationId xmlns:a16="http://schemas.microsoft.com/office/drawing/2014/main" id="{25686BBF-ACEB-55BA-D297-4D84375EAFB1}"/>
                </a:ext>
              </a:extLst>
            </p:cNvPr>
            <p:cNvSpPr/>
            <p:nvPr/>
          </p:nvSpPr>
          <p:spPr>
            <a:xfrm>
              <a:off x="9241056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740B51A-06C0-84CA-541F-59846C0131A4}"/>
              </a:ext>
            </a:extLst>
          </p:cNvPr>
          <p:cNvGrpSpPr/>
          <p:nvPr/>
        </p:nvGrpSpPr>
        <p:grpSpPr>
          <a:xfrm>
            <a:off x="9590508" y="2253671"/>
            <a:ext cx="1863737" cy="2983347"/>
            <a:chOff x="9590508" y="2253671"/>
            <a:chExt cx="1863737" cy="2983347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D1B36334-36FD-3356-0BBD-4AF1A106524D}"/>
                </a:ext>
              </a:extLst>
            </p:cNvPr>
            <p:cNvSpPr/>
            <p:nvPr/>
          </p:nvSpPr>
          <p:spPr>
            <a:xfrm>
              <a:off x="9590508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10B981"/>
            </a:solidFill>
            <a:ln/>
          </p:spPr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27CF09A3-BF94-F7C5-EBFC-B0173A30DC1E}"/>
                </a:ext>
              </a:extLst>
            </p:cNvPr>
            <p:cNvSpPr/>
            <p:nvPr/>
          </p:nvSpPr>
          <p:spPr>
            <a:xfrm>
              <a:off x="9590508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模型测试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25">
              <a:extLst>
                <a:ext uri="{FF2B5EF4-FFF2-40B4-BE49-F238E27FC236}">
                  <a16:creationId xmlns:a16="http://schemas.microsoft.com/office/drawing/2014/main" id="{FDAF4F26-7E26-D0C3-9238-131162BB6270}"/>
                </a:ext>
              </a:extLst>
            </p:cNvPr>
            <p:cNvSpPr/>
            <p:nvPr/>
          </p:nvSpPr>
          <p:spPr>
            <a:xfrm>
              <a:off x="9590508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Testing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50C927B-A122-C2A5-A111-55F50AC230E1}"/>
              </a:ext>
            </a:extLst>
          </p:cNvPr>
          <p:cNvGrpSpPr/>
          <p:nvPr/>
        </p:nvGrpSpPr>
        <p:grpSpPr>
          <a:xfrm>
            <a:off x="505691" y="962235"/>
            <a:ext cx="8875320" cy="369332"/>
            <a:chOff x="470561" y="949180"/>
            <a:chExt cx="8875320" cy="369332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8348D4A2-6764-351B-C58D-5CB3AD0C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67F2758-F111-4BF2-5E2F-F9D03E403E6B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模型训练流程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Model training process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7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19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F99868-6AF7-C569-525E-1EF97C74C515}"/>
              </a:ext>
            </a:extLst>
          </p:cNvPr>
          <p:cNvGrpSpPr/>
          <p:nvPr/>
        </p:nvGrpSpPr>
        <p:grpSpPr>
          <a:xfrm>
            <a:off x="505691" y="962235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91A9E0-DF05-3DE0-2FDC-BB171C1BB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B3C4767-4704-4073-B3B1-C03F991E1607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理想测试效果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The desired test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9" name="右箭头 12">
            <a:extLst>
              <a:ext uri="{FF2B5EF4-FFF2-40B4-BE49-F238E27FC236}">
                <a16:creationId xmlns:a16="http://schemas.microsoft.com/office/drawing/2014/main" id="{B45DA1E7-02BF-50C9-A711-17E5BF0E50D9}"/>
              </a:ext>
            </a:extLst>
          </p:cNvPr>
          <p:cNvSpPr/>
          <p:nvPr/>
        </p:nvSpPr>
        <p:spPr>
          <a:xfrm>
            <a:off x="5774936" y="3429000"/>
            <a:ext cx="652613" cy="50590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7BB7AAE-554C-F50D-EF03-76CDD0B374FA}"/>
              </a:ext>
            </a:extLst>
          </p:cNvPr>
          <p:cNvGrpSpPr/>
          <p:nvPr/>
        </p:nvGrpSpPr>
        <p:grpSpPr>
          <a:xfrm>
            <a:off x="677141" y="2009014"/>
            <a:ext cx="4744412" cy="4059913"/>
            <a:chOff x="848591" y="2140526"/>
            <a:chExt cx="4744412" cy="4059913"/>
          </a:xfrm>
        </p:grpSpPr>
        <p:pic>
          <p:nvPicPr>
            <p:cNvPr id="6" name="图片 5" descr="图片包含 物体, 前, 照片, 碗&#10;&#10;描述已自动生成">
              <a:extLst>
                <a:ext uri="{FF2B5EF4-FFF2-40B4-BE49-F238E27FC236}">
                  <a16:creationId xmlns:a16="http://schemas.microsoft.com/office/drawing/2014/main" id="{3F2BF7CC-47BC-C2CA-D6F9-434B4D013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91" y="2140526"/>
              <a:ext cx="4744412" cy="3558309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0727A1C-78CC-DDFE-6CFC-62FE29ABB9CF}"/>
                </a:ext>
              </a:extLst>
            </p:cNvPr>
            <p:cNvSpPr txBox="1"/>
            <p:nvPr/>
          </p:nvSpPr>
          <p:spPr>
            <a:xfrm>
              <a:off x="2270472" y="5831107"/>
              <a:ext cx="1900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image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24E2ED8-278B-867F-A72F-D017D577D074}"/>
              </a:ext>
            </a:extLst>
          </p:cNvPr>
          <p:cNvGrpSpPr/>
          <p:nvPr/>
        </p:nvGrpSpPr>
        <p:grpSpPr>
          <a:xfrm>
            <a:off x="6735424" y="2009014"/>
            <a:ext cx="4744411" cy="4072111"/>
            <a:chOff x="6906874" y="2140526"/>
            <a:chExt cx="4744411" cy="4072111"/>
          </a:xfrm>
        </p:grpSpPr>
        <p:pic>
          <p:nvPicPr>
            <p:cNvPr id="8" name="图片 7" descr="图片包含 屏幕, 前, 监控, 桌子&#10;&#10;描述已自动生成">
              <a:extLst>
                <a:ext uri="{FF2B5EF4-FFF2-40B4-BE49-F238E27FC236}">
                  <a16:creationId xmlns:a16="http://schemas.microsoft.com/office/drawing/2014/main" id="{26A4CE9D-4BCC-84EB-55FB-4973CF340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6874" y="2140526"/>
              <a:ext cx="4744411" cy="355830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ADF2AA4-5497-6F68-428B-1FFE22C4D7B1}"/>
                </a:ext>
              </a:extLst>
            </p:cNvPr>
            <p:cNvSpPr txBox="1"/>
            <p:nvPr/>
          </p:nvSpPr>
          <p:spPr>
            <a:xfrm>
              <a:off x="7627967" y="5843305"/>
              <a:ext cx="3683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Image after quality inspection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674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F99868-6AF7-C569-525E-1EF97C74C515}"/>
              </a:ext>
            </a:extLst>
          </p:cNvPr>
          <p:cNvGrpSpPr/>
          <p:nvPr/>
        </p:nvGrpSpPr>
        <p:grpSpPr>
          <a:xfrm>
            <a:off x="539172" y="778065"/>
            <a:ext cx="11039764" cy="369332"/>
            <a:chOff x="470561" y="949180"/>
            <a:chExt cx="11039764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91A9E0-DF05-3DE0-2FDC-BB171C1BB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B3C4767-4704-4073-B3B1-C03F991E1607}"/>
                </a:ext>
              </a:extLst>
            </p:cNvPr>
            <p:cNvSpPr txBox="1"/>
            <p:nvPr/>
          </p:nvSpPr>
          <p:spPr>
            <a:xfrm>
              <a:off x="813461" y="949180"/>
              <a:ext cx="1069686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为什么我们自己训练的模型效果不好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Why do the models we train ourselves perform poorly?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D2190C1-822F-91E6-007D-3E1E16BC5E7F}"/>
              </a:ext>
            </a:extLst>
          </p:cNvPr>
          <p:cNvGrpSpPr/>
          <p:nvPr/>
        </p:nvGrpSpPr>
        <p:grpSpPr>
          <a:xfrm>
            <a:off x="1024082" y="1307997"/>
            <a:ext cx="3145851" cy="4454635"/>
            <a:chOff x="1051791" y="1752202"/>
            <a:chExt cx="3145851" cy="4454635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438054B-90E9-72BF-C708-7E46C79CE26A}"/>
                </a:ext>
              </a:extLst>
            </p:cNvPr>
            <p:cNvSpPr/>
            <p:nvPr/>
          </p:nvSpPr>
          <p:spPr>
            <a:xfrm>
              <a:off x="1051791" y="1752202"/>
              <a:ext cx="3145851" cy="4454635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007EA7B1-7E91-914B-99BD-88E91952C3A3}"/>
                </a:ext>
              </a:extLst>
            </p:cNvPr>
            <p:cNvSpPr/>
            <p:nvPr/>
          </p:nvSpPr>
          <p:spPr>
            <a:xfrm>
              <a:off x="1051791" y="1814946"/>
              <a:ext cx="3145851" cy="188224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8B661954-2829-908C-0DA9-89F4E79872F0}"/>
                </a:ext>
              </a:extLst>
            </p:cNvPr>
            <p:cNvSpPr/>
            <p:nvPr/>
          </p:nvSpPr>
          <p:spPr>
            <a:xfrm>
              <a:off x="1268746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图片数据量小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32812E08-67F7-A6BC-5830-8492E28FB5C1}"/>
                </a:ext>
              </a:extLst>
            </p:cNvPr>
            <p:cNvSpPr/>
            <p:nvPr/>
          </p:nvSpPr>
          <p:spPr>
            <a:xfrm>
              <a:off x="1243608" y="3383477"/>
              <a:ext cx="2711940" cy="3764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Small Dataset</a:t>
              </a:r>
              <a:endParaRPr lang="en-US" sz="2800" b="1" dirty="0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884EB927-50F6-235A-2E09-C64F5D5CCA71}"/>
                </a:ext>
              </a:extLst>
            </p:cNvPr>
            <p:cNvSpPr/>
            <p:nvPr/>
          </p:nvSpPr>
          <p:spPr>
            <a:xfrm>
              <a:off x="1262671" y="4463702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训练样本不足，模型泛化能力差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F852DDC2-C518-CF92-1258-97D65175A597}"/>
                </a:ext>
              </a:extLst>
            </p:cNvPr>
            <p:cNvSpPr/>
            <p:nvPr/>
          </p:nvSpPr>
          <p:spPr>
            <a:xfrm>
              <a:off x="1268746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Insufficient training samples, poor model generalization</a:t>
              </a:r>
              <a:endParaRPr lang="en-US" sz="1600" b="1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C121BD0-8FC3-AFDF-A0B0-AF208E94B8C8}"/>
              </a:ext>
            </a:extLst>
          </p:cNvPr>
          <p:cNvGrpSpPr/>
          <p:nvPr/>
        </p:nvGrpSpPr>
        <p:grpSpPr>
          <a:xfrm>
            <a:off x="4495365" y="1370741"/>
            <a:ext cx="3145851" cy="4391892"/>
            <a:chOff x="4523075" y="1814946"/>
            <a:chExt cx="3145851" cy="4391892"/>
          </a:xfrm>
        </p:grpSpPr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BD9C7D27-4656-965A-2AF5-53E35102F83F}"/>
                </a:ext>
              </a:extLst>
            </p:cNvPr>
            <p:cNvSpPr/>
            <p:nvPr/>
          </p:nvSpPr>
          <p:spPr>
            <a:xfrm>
              <a:off x="4523075" y="1814946"/>
              <a:ext cx="3145851" cy="4391892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6F9B0D76-D85F-F612-C115-F74278DA03CB}"/>
                </a:ext>
              </a:extLst>
            </p:cNvPr>
            <p:cNvSpPr/>
            <p:nvPr/>
          </p:nvSpPr>
          <p:spPr>
            <a:xfrm>
              <a:off x="4523075" y="1814946"/>
              <a:ext cx="3145851" cy="188224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76418F5E-3ADA-CDDB-202D-09F36E4B3986}"/>
                </a:ext>
              </a:extLst>
            </p:cNvPr>
            <p:cNvSpPr/>
            <p:nvPr/>
          </p:nvSpPr>
          <p:spPr>
            <a:xfrm>
              <a:off x="4740030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训练次数少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9CA79D9A-46FC-1296-E6C5-1918A7CC7FB9}"/>
                </a:ext>
              </a:extLst>
            </p:cNvPr>
            <p:cNvSpPr/>
            <p:nvPr/>
          </p:nvSpPr>
          <p:spPr>
            <a:xfrm>
              <a:off x="4714892" y="3383477"/>
              <a:ext cx="2711940" cy="3764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 </a:t>
              </a:r>
              <a:r>
                <a:rPr lang="en-US" sz="20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</a:t>
              </a:r>
              <a:r>
                <a:rPr lang="en-US" sz="24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Epochs</a:t>
              </a:r>
              <a:endParaRPr lang="en-US" sz="2400" b="1" dirty="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5A07A166-ED02-BA19-08CD-EEF2B66253F0}"/>
                </a:ext>
              </a:extLst>
            </p:cNvPr>
            <p:cNvSpPr/>
            <p:nvPr/>
          </p:nvSpPr>
          <p:spPr>
            <a:xfrm>
              <a:off x="4746107" y="4469374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epochs设置较小，模型未充分学习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EE8B23D1-351E-53F2-9D0E-40C8DCA51FD6}"/>
                </a:ext>
              </a:extLst>
            </p:cNvPr>
            <p:cNvSpPr/>
            <p:nvPr/>
          </p:nvSpPr>
          <p:spPr>
            <a:xfrm>
              <a:off x="4740030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epoch count, insufficient model learning</a:t>
              </a:r>
              <a:endParaRPr lang="en-US" sz="1600" b="1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0C55925-B651-6442-5261-BAE9D97DF0DE}"/>
              </a:ext>
            </a:extLst>
          </p:cNvPr>
          <p:cNvGrpSpPr/>
          <p:nvPr/>
        </p:nvGrpSpPr>
        <p:grpSpPr>
          <a:xfrm>
            <a:off x="7966648" y="1370741"/>
            <a:ext cx="3145851" cy="4391892"/>
            <a:chOff x="7994358" y="1814946"/>
            <a:chExt cx="3145851" cy="4391892"/>
          </a:xfrm>
        </p:grpSpPr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3FE26F30-64ED-4F77-EB26-47CA7236F9FC}"/>
                </a:ext>
              </a:extLst>
            </p:cNvPr>
            <p:cNvSpPr/>
            <p:nvPr/>
          </p:nvSpPr>
          <p:spPr>
            <a:xfrm>
              <a:off x="7994358" y="1814946"/>
              <a:ext cx="3145851" cy="4391892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7" name="Shape 17">
              <a:extLst>
                <a:ext uri="{FF2B5EF4-FFF2-40B4-BE49-F238E27FC236}">
                  <a16:creationId xmlns:a16="http://schemas.microsoft.com/office/drawing/2014/main" id="{B7E5160C-3253-F55D-F5C4-EB1C594BCF7B}"/>
                </a:ext>
              </a:extLst>
            </p:cNvPr>
            <p:cNvSpPr/>
            <p:nvPr/>
          </p:nvSpPr>
          <p:spPr>
            <a:xfrm>
              <a:off x="7994358" y="1814946"/>
              <a:ext cx="3145851" cy="188224"/>
            </a:xfrm>
            <a:prstGeom prst="rect">
              <a:avLst/>
            </a:prstGeom>
            <a:solidFill>
              <a:srgbClr val="8B5CF6"/>
            </a:solidFill>
            <a:ln/>
          </p:spPr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581CC5C0-B32C-9027-00FF-386E61F6950D}"/>
                </a:ext>
              </a:extLst>
            </p:cNvPr>
            <p:cNvSpPr/>
            <p:nvPr/>
          </p:nvSpPr>
          <p:spPr>
            <a:xfrm>
              <a:off x="8211313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CPU训练耗时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728B412F-88E0-BA1F-717A-DE5C869F2874}"/>
                </a:ext>
              </a:extLst>
            </p:cNvPr>
            <p:cNvSpPr/>
            <p:nvPr/>
          </p:nvSpPr>
          <p:spPr>
            <a:xfrm>
              <a:off x="8211313" y="3195253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8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CPU Training Slow</a:t>
              </a:r>
              <a:endParaRPr lang="en-US" sz="2400" b="1" dirty="0"/>
            </a:p>
          </p:txBody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545615FB-9E50-6696-032D-A156650D5DAA}"/>
                </a:ext>
              </a:extLst>
            </p:cNvPr>
            <p:cNvSpPr/>
            <p:nvPr/>
          </p:nvSpPr>
          <p:spPr>
            <a:xfrm>
              <a:off x="8217390" y="4469374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未使用GPU加速，训练效率低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8E66DA22-13F1-194D-DC49-DAAB8C7B4E46}"/>
                </a:ext>
              </a:extLst>
            </p:cNvPr>
            <p:cNvSpPr/>
            <p:nvPr/>
          </p:nvSpPr>
          <p:spPr>
            <a:xfrm>
              <a:off x="8211313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GPU acceleration, low training efficiency</a:t>
              </a:r>
              <a:endParaRPr lang="en-US" sz="1600" b="1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7095F61-51E8-5926-DDC0-E653AB20805A}"/>
              </a:ext>
            </a:extLst>
          </p:cNvPr>
          <p:cNvSpPr txBox="1"/>
          <p:nvPr/>
        </p:nvSpPr>
        <p:spPr>
          <a:xfrm>
            <a:off x="1520990" y="5967740"/>
            <a:ext cx="21547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Dataset &gt; 1000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B09487-0712-E3DE-8C76-09A3EF70230E}"/>
              </a:ext>
            </a:extLst>
          </p:cNvPr>
          <p:cNvSpPr txBox="1"/>
          <p:nvPr/>
        </p:nvSpPr>
        <p:spPr>
          <a:xfrm>
            <a:off x="5082792" y="5970148"/>
            <a:ext cx="1920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Epochs &gt; 300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020FBE-1FBF-3160-56DE-A2853D0E718D}"/>
              </a:ext>
            </a:extLst>
          </p:cNvPr>
          <p:cNvSpPr txBox="1"/>
          <p:nvPr/>
        </p:nvSpPr>
        <p:spPr>
          <a:xfrm>
            <a:off x="7993148" y="6012441"/>
            <a:ext cx="3241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GPU, NPU for acceleration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56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45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AEB8416-C35E-13A6-416F-9C71F1353425}"/>
              </a:ext>
            </a:extLst>
          </p:cNvPr>
          <p:cNvGrpSpPr/>
          <p:nvPr/>
        </p:nvGrpSpPr>
        <p:grpSpPr>
          <a:xfrm>
            <a:off x="505691" y="881147"/>
            <a:ext cx="11039764" cy="874407"/>
            <a:chOff x="470561" y="868092"/>
            <a:chExt cx="11039764" cy="87440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222F1DD-D21B-67AB-0049-C88F34305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8F01702-9157-54CB-9916-C16E017D39CA}"/>
                </a:ext>
              </a:extLst>
            </p:cNvPr>
            <p:cNvSpPr txBox="1"/>
            <p:nvPr/>
          </p:nvSpPr>
          <p:spPr>
            <a:xfrm>
              <a:off x="813461" y="868092"/>
              <a:ext cx="10696864" cy="8744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模型训练好了，我们可以用这个模型来干什么？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The chip quality inspection model is trained, what can we do with this model?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6" name="图片 5" descr="屏幕上有字&#10;&#10;低可信度描述已自动生成">
            <a:extLst>
              <a:ext uri="{FF2B5EF4-FFF2-40B4-BE49-F238E27FC236}">
                <a16:creationId xmlns:a16="http://schemas.microsoft.com/office/drawing/2014/main" id="{B5F3B647-EFC7-B8B3-E027-28381FBB0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435" y="1863435"/>
            <a:ext cx="5994400" cy="4495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8071C0E-E11B-AC3F-26FF-CDBFDD228A98}"/>
              </a:ext>
            </a:extLst>
          </p:cNvPr>
          <p:cNvSpPr txBox="1"/>
          <p:nvPr/>
        </p:nvSpPr>
        <p:spPr>
          <a:xfrm>
            <a:off x="905165" y="3233360"/>
            <a:ext cx="3423286" cy="17559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8800" dirty="0">
                <a:solidFill>
                  <a:srgbClr val="0068B7"/>
                </a:solidFill>
                <a:latin typeface="Arial" panose="020B0604020202020204" pitchFamily="34" charset="0"/>
                <a:ea typeface="微软雅黑" panose="020B0503020204020204" charset="-122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3271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87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11180618" cy="458908"/>
            <a:chOff x="470561" y="846388"/>
            <a:chExt cx="11180618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10837718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编程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 programming language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56E98A2-3539-5EB0-7DC3-D6B68B889BDA}"/>
              </a:ext>
            </a:extLst>
          </p:cNvPr>
          <p:cNvGrpSpPr/>
          <p:nvPr/>
        </p:nvGrpSpPr>
        <p:grpSpPr>
          <a:xfrm>
            <a:off x="848591" y="6009970"/>
            <a:ext cx="10747168" cy="418191"/>
            <a:chOff x="825336" y="2707204"/>
            <a:chExt cx="10747168" cy="41819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CA1F2CD-665D-08D6-65AE-A0E5FC574977}"/>
                </a:ext>
              </a:extLst>
            </p:cNvPr>
            <p:cNvSpPr txBox="1"/>
            <p:nvPr/>
          </p:nvSpPr>
          <p:spPr>
            <a:xfrm>
              <a:off x="1126319" y="2707204"/>
              <a:ext cx="10446185" cy="41819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TIOBE</a:t>
              </a:r>
              <a:r>
                <a:rPr lang="zh-CN" altLang="en-US" sz="1600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官网 </a:t>
              </a:r>
              <a:r>
                <a:rPr lang="en-US" altLang="zh-CN" sz="1600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TIOBE website</a:t>
              </a:r>
              <a:r>
                <a:rPr lang="zh-CN" altLang="en-US" sz="1600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https://www.tiobe.com/tiobe-index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65DE046-9511-3094-3A2B-28C695A50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336" y="2799983"/>
              <a:ext cx="300983" cy="300983"/>
            </a:xfrm>
            <a:prstGeom prst="rect">
              <a:avLst/>
            </a:prstGeom>
          </p:spPr>
        </p:pic>
      </p:grpSp>
      <p:pic>
        <p:nvPicPr>
          <p:cNvPr id="10" name="图片 9" descr="图形用户界面&#10;&#10;描述已自动生成">
            <a:extLst>
              <a:ext uri="{FF2B5EF4-FFF2-40B4-BE49-F238E27FC236}">
                <a16:creationId xmlns:a16="http://schemas.microsoft.com/office/drawing/2014/main" id="{A06B0199-FD6A-B340-A5BB-B10A70EA72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2914507"/>
            <a:ext cx="10353387" cy="2755883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9D3217-1B3C-8DE9-63C4-931D4C136114}"/>
              </a:ext>
            </a:extLst>
          </p:cNvPr>
          <p:cNvGrpSpPr/>
          <p:nvPr/>
        </p:nvGrpSpPr>
        <p:grpSpPr>
          <a:xfrm>
            <a:off x="872907" y="1659286"/>
            <a:ext cx="10099893" cy="914286"/>
            <a:chOff x="872907" y="1599308"/>
            <a:chExt cx="10099893" cy="914286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FC2A716-DE40-FCC8-8B33-22728ADD2FC3}"/>
                </a:ext>
              </a:extLst>
            </p:cNvPr>
            <p:cNvSpPr txBox="1"/>
            <p:nvPr/>
          </p:nvSpPr>
          <p:spPr>
            <a:xfrm>
              <a:off x="4073485" y="1640952"/>
              <a:ext cx="689931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 is a very popular programming language for AI</a:t>
              </a:r>
              <a:endParaRPr lang="zh-CN" altLang="en-US" sz="2400" b="1" dirty="0"/>
            </a:p>
          </p:txBody>
        </p:sp>
        <p:pic>
          <p:nvPicPr>
            <p:cNvPr id="14" name="图片 13" descr="徽标&#10;&#10;中度可信度描述已自动生成">
              <a:extLst>
                <a:ext uri="{FF2B5EF4-FFF2-40B4-BE49-F238E27FC236}">
                  <a16:creationId xmlns:a16="http://schemas.microsoft.com/office/drawing/2014/main" id="{1A943F7C-8F5F-04F0-733C-775E01E04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907" y="1599308"/>
              <a:ext cx="2742857" cy="914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906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PyCharm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集成开发环境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PyCharm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Used for Python programming and development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1B45AF-696D-6259-1A2F-3847D2ACAFAE}"/>
              </a:ext>
            </a:extLst>
          </p:cNvPr>
          <p:cNvGrpSpPr/>
          <p:nvPr/>
        </p:nvGrpSpPr>
        <p:grpSpPr>
          <a:xfrm>
            <a:off x="975830" y="1630478"/>
            <a:ext cx="10240339" cy="1054856"/>
            <a:chOff x="1070061" y="2088027"/>
            <a:chExt cx="10240339" cy="105485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8EDCC8F-ED1A-761D-03D7-D104863BD39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3252789" y="2088028"/>
              <a:ext cx="8057611" cy="105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t" anchorCtr="0">
              <a:noAutofit/>
            </a:bodyPr>
            <a:lstStyle/>
            <a:p>
              <a:pPr marL="720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简要介绍：一种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Python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IDE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I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ntegrated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D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evelopment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nvironment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集成开发环境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），带有一整套开发时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提高效率的工具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，比如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调试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语法高亮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代码跳转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智能提示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、单元测试、版本控制等。</a:t>
              </a:r>
              <a:endPara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720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官方网址：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https://www.jetbrains.com.cn/en-us/pycharm/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Title-1">
              <a:extLst>
                <a:ext uri="{FF2B5EF4-FFF2-40B4-BE49-F238E27FC236}">
                  <a16:creationId xmlns:a16="http://schemas.microsoft.com/office/drawing/2014/main" id="{9220CE85-B3AC-2578-88FC-7A225D77F1F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70061" y="2088027"/>
              <a:ext cx="1991368" cy="105485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27D492"/>
                </a:gs>
                <a:gs pos="100000">
                  <a:srgbClr val="F9EE40"/>
                </a:gs>
              </a:gsLst>
              <a:lin ang="0" scaled="0"/>
            </a:gra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1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517BF1F-1E02-A6E9-BB78-AD45A38C9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5411" y="2214748"/>
              <a:ext cx="782782" cy="782782"/>
            </a:xfrm>
            <a:prstGeom prst="rect">
              <a:avLst/>
            </a:prstGeom>
          </p:spPr>
        </p:pic>
      </p:grpSp>
      <p:pic>
        <p:nvPicPr>
          <p:cNvPr id="38" name="图片 37" descr="电子设备的屏幕&#10;&#10;描述已自动生成">
            <a:extLst>
              <a:ext uri="{FF2B5EF4-FFF2-40B4-BE49-F238E27FC236}">
                <a16:creationId xmlns:a16="http://schemas.microsoft.com/office/drawing/2014/main" id="{797BD0DC-31D2-8565-7287-70D32BF99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0" y="2905097"/>
            <a:ext cx="8174182" cy="35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25115F2-F931-E6E1-17E0-9377C0F0EE9D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18B686-CFB9-9153-25AB-F234E915F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3002446-7267-99D8-6E80-F1AE23397C82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编程演示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Python programming demonstration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F483686-E057-DFA3-56FE-7F7AD41A6BC9}"/>
              </a:ext>
            </a:extLst>
          </p:cNvPr>
          <p:cNvSpPr txBox="1"/>
          <p:nvPr/>
        </p:nvSpPr>
        <p:spPr>
          <a:xfrm>
            <a:off x="848591" y="1510159"/>
            <a:ext cx="10446185" cy="418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第一个程序：输出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hello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world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！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| The first program: output hello, world!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79A90B-107E-6D98-CDC6-645DAC42E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4" y="2299286"/>
            <a:ext cx="10677525" cy="14253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6632FE-866D-9370-F3C0-A786F4D52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64" y="4426447"/>
            <a:ext cx="9101525" cy="1621620"/>
          </a:xfrm>
          <a:prstGeom prst="rect">
            <a:avLst/>
          </a:prstGeom>
        </p:spPr>
      </p:pic>
      <p:sp>
        <p:nvSpPr>
          <p:cNvPr id="12" name="右箭头 12">
            <a:extLst>
              <a:ext uri="{FF2B5EF4-FFF2-40B4-BE49-F238E27FC236}">
                <a16:creationId xmlns:a16="http://schemas.microsoft.com/office/drawing/2014/main" id="{2BF7DBFC-19A2-40CF-B054-FA487073F49F}"/>
              </a:ext>
            </a:extLst>
          </p:cNvPr>
          <p:cNvSpPr/>
          <p:nvPr/>
        </p:nvSpPr>
        <p:spPr>
          <a:xfrm rot="5400000">
            <a:off x="2123461" y="3805306"/>
            <a:ext cx="494461" cy="54047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99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493659" y="1027240"/>
            <a:ext cx="4144515" cy="4459041"/>
            <a:chOff x="470561" y="780215"/>
            <a:chExt cx="4144515" cy="445904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780215"/>
              <a:ext cx="3801615" cy="445904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单张图片不同质量芯片数量统计功能编程实现 </a:t>
              </a:r>
              <a:r>
                <a:rPr lang="en-US" altLang="zh-CN" sz="240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Programming implementation of the counting function for chip counts of different qualities in a single image </a:t>
              </a:r>
              <a:endPara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5" name="图片 4" descr="屏幕上有字&#10;&#10;低可信度描述已自动生成">
            <a:extLst>
              <a:ext uri="{FF2B5EF4-FFF2-40B4-BE49-F238E27FC236}">
                <a16:creationId xmlns:a16="http://schemas.microsoft.com/office/drawing/2014/main" id="{BAB8850F-F7A1-215C-86E7-30C5D9A37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747" y="1093413"/>
            <a:ext cx="6659420" cy="499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2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7BA4-68CB-5954-CCE9-99A3019B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78E6DF8-AA97-E9FF-38B2-5A58D656450C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4427B09-46F0-523E-1770-BE96B5B71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CC64798-1B1D-CAA9-1D22-BAE299F90B7F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）图片显示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Display the image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8E981CE-2133-97A1-000B-8A3EA9C19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90" y="1585912"/>
            <a:ext cx="10978575" cy="394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4F27A-A351-0E25-D0C4-5EFB4DE3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697AE04-16BD-598A-CF5A-76AD323E4D0C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E2FE09A-F01A-72A2-6C3A-07662CA41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72AA920-548C-CDBA-7C1D-A725895868C4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）图片显示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Display the image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9BBD0DE-AF9B-0252-D0B3-CCE65C473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557" y="1443789"/>
            <a:ext cx="6711616" cy="503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8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A325-3E59-2AF7-8A86-B2A926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70D729A-3350-2EEA-2501-A62BF16CAFF5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33D2F6-914C-38A1-28B6-CF4F842E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38B9E5-B650-48CD-127B-5B7875D375A6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）芯片目标检测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Detect the target position of the chip in the image and draw a box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4728146-E113-94E4-2EB3-68FE813ED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91" y="1861636"/>
            <a:ext cx="10732419" cy="19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2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C1D2-0C06-E0C9-046B-DC6C6C18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EA8C439-E7A6-34F0-189B-CE5A38625F73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E8FD214-A9EB-1F37-B863-E66E2BBBF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1C32419-0B74-5086-1954-233BDFDC0017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）芯片目标检测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Detect the target position of the chip in the image and draw a box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DA683E7-6BD8-53A5-CD7D-CFCD6F053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91" y="1387849"/>
            <a:ext cx="10617869" cy="51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5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181CB-5E34-2CB3-F573-2C4DA627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06E998F-3194-7F4F-22C4-AFCC112498A7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3649C0E-35C7-5BDA-43B2-25A28BE34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C323E07-FC56-6F9F-D2EE-EB46E57FEFF3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）芯片目标检测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Detect the target position of the chip in the image and draw a box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FE258E2-8A5B-1F7B-3F12-212C6E02C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554" y="1413710"/>
            <a:ext cx="6916153" cy="518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4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7EA1-8B4C-35BD-87F4-06EA9C9D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153DFE6-D793-63A6-8991-4B83ACD26B02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85F51B3-BC88-D9D0-E8B3-277684C3B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31A4629-875C-025B-0F59-454F8F9BD07E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）芯片数量统计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Count the number of chips of different qualities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770CFDF-E4B3-5628-EA37-8CFF4016C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55" y="1491415"/>
            <a:ext cx="8291261" cy="11844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AA0A303-E2D6-229F-BFA7-CD6077F46A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637"/>
          <a:stretch>
            <a:fillRect/>
          </a:stretch>
        </p:blipFill>
        <p:spPr>
          <a:xfrm>
            <a:off x="1087354" y="2856878"/>
            <a:ext cx="8291261" cy="20683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2AF4A43-C725-4FCD-773E-9C7E6F9D1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354" y="5106271"/>
            <a:ext cx="10966784" cy="141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8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B187-B9A5-0420-330D-E0A3B3AC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7949333-53B1-EC2D-1B33-61095200C1F2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876118C-6433-B6EE-6AB1-51310BF96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414CC59-A742-615A-4EA1-5FEF9497E304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）芯片数量统计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Count the number of chips of different qualities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3808EB5B-F5C0-E559-0FC5-6D2C41C6B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174" y="1564106"/>
            <a:ext cx="6585284" cy="493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2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BE88-7587-5591-ADD9-12E1DAEE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CCB5BE5-BF3B-7901-AF4B-03E99D884F7B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186396F-21FC-487A-382D-8DDAB7381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0F81039-1978-472E-7BE3-11E12B0DA86F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4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）检测结果保存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Save target detection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42DA495-A29D-B45E-EF72-B3997D2F91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122"/>
          <a:stretch>
            <a:fillRect/>
          </a:stretch>
        </p:blipFill>
        <p:spPr>
          <a:xfrm>
            <a:off x="848591" y="1549553"/>
            <a:ext cx="10714121" cy="33137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EB14DB1-2E90-C795-4118-18A62AF90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91" y="5179845"/>
            <a:ext cx="85344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3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A55E-2411-81DC-FFA3-C5E829FE3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78ED1F3-3137-3503-96FF-A822920F91C6}"/>
              </a:ext>
            </a:extLst>
          </p:cNvPr>
          <p:cNvGrpSpPr/>
          <p:nvPr/>
        </p:nvGrpSpPr>
        <p:grpSpPr>
          <a:xfrm>
            <a:off x="516537" y="906923"/>
            <a:ext cx="11158926" cy="1689052"/>
            <a:chOff x="470561" y="792246"/>
            <a:chExt cx="11158926" cy="168905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BC89BFE-8E77-DF86-6A0E-B10FA8FEF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3460B53-6D3F-BA75-CCD4-F90A37798CF6}"/>
                </a:ext>
              </a:extLst>
            </p:cNvPr>
            <p:cNvSpPr txBox="1"/>
            <p:nvPr/>
          </p:nvSpPr>
          <p:spPr>
            <a:xfrm>
              <a:off x="813461" y="792246"/>
              <a:ext cx="10816026" cy="16890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多张图片不同质量芯片数量统计功能编程实现 </a:t>
              </a:r>
              <a:r>
                <a:rPr lang="en-US" altLang="zh-CN" sz="240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A function for programming the statistics of the number of chips of different quality in multiple images</a:t>
              </a:r>
              <a:endPara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4399757-4E8B-CC39-4FC9-99605AD25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37" y="2855574"/>
            <a:ext cx="10630374" cy="266575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0CACFA3-BC45-4284-5F45-6291758355A1}"/>
              </a:ext>
            </a:extLst>
          </p:cNvPr>
          <p:cNvSpPr txBox="1"/>
          <p:nvPr/>
        </p:nvSpPr>
        <p:spPr>
          <a:xfrm>
            <a:off x="859437" y="5697799"/>
            <a:ext cx="11157072" cy="8744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(Foreign access)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Github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website: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https://github.com/whtcc-yuchangle/chip-quality-detector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(Domestic access)</a:t>
            </a:r>
            <a:r>
              <a:rPr lang="en-US" altLang="zh-CN" dirty="0" err="1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Gitee</a:t>
            </a:r>
            <a:r>
              <a:rPr lang="en-US" altLang="zh-CN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website: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https://gitee.com/yuchangle-whtcc/chip-quality-detector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8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7BA4-68CB-5954-CCE9-99A3019B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78E6DF8-AA97-E9FF-38B2-5A58D656450C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4427B09-46F0-523E-1770-BE96B5B71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CC64798-1B1D-CAA9-1D22-BAE299F90B7F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）依次显示文件夹中图片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Display images in the folder sequentially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1301E653-FB4D-6E25-D8C6-52410B769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1559008"/>
            <a:ext cx="10736169" cy="469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8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A325-3E59-2AF7-8A86-B2A926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70D729A-3350-2EEA-2501-A62BF16CAFF5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33D2F6-914C-38A1-28B6-CF4F842E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38B9E5-B650-48CD-127B-5B7875D375A6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）对文件夹中所有图片进行目标检测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Object detection on all images in the folder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DA7E4705-F33D-013A-6D57-743BEA33D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1728597"/>
            <a:ext cx="10238822" cy="194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2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A325-3E59-2AF7-8A86-B2A926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70D729A-3350-2EEA-2501-A62BF16CAFF5}"/>
              </a:ext>
            </a:extLst>
          </p:cNvPr>
          <p:cNvGrpSpPr/>
          <p:nvPr/>
        </p:nvGrpSpPr>
        <p:grpSpPr>
          <a:xfrm>
            <a:off x="505691" y="776315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33D2F6-914C-38A1-28B6-CF4F842E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38B9E5-B650-48CD-127B-5B7875D375A6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）对文件夹中所有图片进行目标检测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Object detection on all images in the folder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E27EBC77-8FB9-D2E9-F87F-E98F9ED08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56" y="1327587"/>
            <a:ext cx="9865530" cy="529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5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7EA1-8B4C-35BD-87F4-06EA9C9D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153DFE6-D793-63A6-8991-4B83ACD26B02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85F51B3-BC88-D9D0-E8B3-277684C3B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31A4629-875C-025B-0F59-454F8F9BD07E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）每张图片的芯片数量统计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Statistics of the number of chips per image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 descr="图形用户界面, 文本&#10;&#10;描述已自动生成">
            <a:extLst>
              <a:ext uri="{FF2B5EF4-FFF2-40B4-BE49-F238E27FC236}">
                <a16:creationId xmlns:a16="http://schemas.microsoft.com/office/drawing/2014/main" id="{D4E366CA-7778-D961-A823-96A1447C3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8" y="1534883"/>
            <a:ext cx="8736855" cy="1151988"/>
          </a:xfrm>
          <a:prstGeom prst="rect">
            <a:avLst/>
          </a:prstGeom>
        </p:spPr>
      </p:pic>
      <p:pic>
        <p:nvPicPr>
          <p:cNvPr id="11" name="图片 10" descr="文本&#10;&#10;描述已自动生成">
            <a:extLst>
              <a:ext uri="{FF2B5EF4-FFF2-40B4-BE49-F238E27FC236}">
                <a16:creationId xmlns:a16="http://schemas.microsoft.com/office/drawing/2014/main" id="{15267732-E48C-91AF-1C8F-D0847D55AF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8" y="3021400"/>
            <a:ext cx="8736854" cy="1675969"/>
          </a:xfrm>
          <a:prstGeom prst="rect">
            <a:avLst/>
          </a:prstGeom>
        </p:spPr>
      </p:pic>
      <p:pic>
        <p:nvPicPr>
          <p:cNvPr id="13" name="图片 12" descr="屏幕上有字&#10;&#10;描述已自动生成">
            <a:extLst>
              <a:ext uri="{FF2B5EF4-FFF2-40B4-BE49-F238E27FC236}">
                <a16:creationId xmlns:a16="http://schemas.microsoft.com/office/drawing/2014/main" id="{5998C539-96A9-0E37-5C1B-9CD8248513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8" y="5031898"/>
            <a:ext cx="10238510" cy="142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0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7EA1-8B4C-35BD-87F4-06EA9C9D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153DFE6-D793-63A6-8991-4B83ACD26B02}"/>
              </a:ext>
            </a:extLst>
          </p:cNvPr>
          <p:cNvGrpSpPr/>
          <p:nvPr/>
        </p:nvGrpSpPr>
        <p:grpSpPr>
          <a:xfrm>
            <a:off x="496455" y="696742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85F51B3-BC88-D9D0-E8B3-277684C3B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31A4629-875C-025B-0F59-454F8F9BD07E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4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）统计结果汇总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Folder image chip quantity statistics summary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C29B168D-E9E8-1BC4-1C53-28C6D79F8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61" y="1278240"/>
            <a:ext cx="8611494" cy="1811963"/>
          </a:xfrm>
          <a:prstGeom prst="rect">
            <a:avLst/>
          </a:prstGeom>
        </p:spPr>
      </p:pic>
      <p:pic>
        <p:nvPicPr>
          <p:cNvPr id="9" name="图片 8" descr="文本&#10;&#10;描述已自动生成">
            <a:extLst>
              <a:ext uri="{FF2B5EF4-FFF2-40B4-BE49-F238E27FC236}">
                <a16:creationId xmlns:a16="http://schemas.microsoft.com/office/drawing/2014/main" id="{F16832D9-2C7E-F579-FF5F-31F05182A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61" y="3212793"/>
            <a:ext cx="8044824" cy="1052097"/>
          </a:xfrm>
          <a:prstGeom prst="rect">
            <a:avLst/>
          </a:prstGeom>
        </p:spPr>
      </p:pic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93B57ADC-03EC-58FF-00D6-0266AE27B3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61" y="4397713"/>
            <a:ext cx="8900432" cy="216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0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BE88-7587-5591-ADD9-12E1DAEE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CCB5BE5-BF3B-7901-AF4B-03E99D884F7B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186396F-21FC-487A-382D-8DDAB7381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0F81039-1978-472E-7BE3-11E12B0DA86F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5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）检测结果保存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Save target detection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09C28F63-4608-5B17-D56E-6D24C8567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67" y="1799884"/>
            <a:ext cx="9662191" cy="1567422"/>
          </a:xfrm>
          <a:prstGeom prst="rect">
            <a:avLst/>
          </a:prstGeom>
        </p:spPr>
      </p:pic>
      <p:pic>
        <p:nvPicPr>
          <p:cNvPr id="10" name="图片 9" descr="文本&#10;&#10;描述已自动生成">
            <a:extLst>
              <a:ext uri="{FF2B5EF4-FFF2-40B4-BE49-F238E27FC236}">
                <a16:creationId xmlns:a16="http://schemas.microsoft.com/office/drawing/2014/main" id="{B4BA4535-7AF2-ADE5-03DA-4672FB4F0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67" y="3848839"/>
            <a:ext cx="9836878" cy="146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8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44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92F1C51-5715-03A8-A0C0-7E6586B4216A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4BA3FF9-DFE8-10B4-EB29-C0121607A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DB5A008-D591-AB13-3979-5701F64AF9BB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基于计算机视觉的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AI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模型应用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AI model applications based on computer vision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3399075-FBC8-915D-FE49-3E95B63BB713}"/>
              </a:ext>
            </a:extLst>
          </p:cNvPr>
          <p:cNvGrpSpPr/>
          <p:nvPr/>
        </p:nvGrpSpPr>
        <p:grpSpPr>
          <a:xfrm>
            <a:off x="628898" y="1993531"/>
            <a:ext cx="10831181" cy="3312396"/>
            <a:chOff x="1336222" y="1566409"/>
            <a:chExt cx="9567259" cy="263806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A9D691C-3FF8-FF3D-685F-4A98A3D15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6222" y="1566409"/>
              <a:ext cx="9567259" cy="23250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37E96DC-1121-58DF-40D8-F63C246F35C5}"/>
                </a:ext>
              </a:extLst>
            </p:cNvPr>
            <p:cNvSpPr txBox="1"/>
            <p:nvPr/>
          </p:nvSpPr>
          <p:spPr>
            <a:xfrm>
              <a:off x="1523857" y="3896693"/>
              <a:ext cx="119063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目标检测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F1F0339-31EA-8865-70AC-89F08AB7FF35}"/>
                </a:ext>
              </a:extLst>
            </p:cNvPr>
            <p:cNvSpPr txBox="1"/>
            <p:nvPr/>
          </p:nvSpPr>
          <p:spPr>
            <a:xfrm>
              <a:off x="3048849" y="3891447"/>
              <a:ext cx="119063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实例分割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F9A8D3A-2585-0774-86D6-391EB58E8237}"/>
                </a:ext>
              </a:extLst>
            </p:cNvPr>
            <p:cNvSpPr txBox="1"/>
            <p:nvPr/>
          </p:nvSpPr>
          <p:spPr>
            <a:xfrm>
              <a:off x="4808704" y="3896693"/>
              <a:ext cx="1028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分类检测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322A463-A42F-91CC-17B9-3561C6306C64}"/>
                </a:ext>
              </a:extLst>
            </p:cNvPr>
            <p:cNvSpPr txBox="1"/>
            <p:nvPr/>
          </p:nvSpPr>
          <p:spPr>
            <a:xfrm>
              <a:off x="6414010" y="3896693"/>
              <a:ext cx="1028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姿态估计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8F9BD13-D8B7-C466-0E42-B7AB51814B85}"/>
                </a:ext>
              </a:extLst>
            </p:cNvPr>
            <p:cNvSpPr txBox="1"/>
            <p:nvPr/>
          </p:nvSpPr>
          <p:spPr>
            <a:xfrm>
              <a:off x="7907189" y="3889605"/>
              <a:ext cx="13381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方向物体检测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590ECF8-4792-E79C-FD08-2FFA826AF951}"/>
                </a:ext>
              </a:extLst>
            </p:cNvPr>
            <p:cNvSpPr txBox="1"/>
            <p:nvPr/>
          </p:nvSpPr>
          <p:spPr>
            <a:xfrm>
              <a:off x="9648734" y="3896693"/>
              <a:ext cx="1028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目标追踪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934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D44E990-FC90-1080-DBCF-434AEA4AB635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376D136-4F79-4675-47BE-540048D05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669CC34-6424-32F9-BE47-062DC8588D71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Detect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7669260-745B-3B9E-6628-C51DC0C3BB37}"/>
              </a:ext>
            </a:extLst>
          </p:cNvPr>
          <p:cNvGrpSpPr/>
          <p:nvPr/>
        </p:nvGrpSpPr>
        <p:grpSpPr>
          <a:xfrm>
            <a:off x="971798" y="2481197"/>
            <a:ext cx="1679575" cy="2787015"/>
            <a:chOff x="1797" y="3471"/>
            <a:chExt cx="2645" cy="438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5B19DED-88C9-3ADE-D06B-D3BC001AD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3100"/>
            <a:stretch>
              <a:fillRect/>
            </a:stretch>
          </p:blipFill>
          <p:spPr>
            <a:xfrm>
              <a:off x="1797" y="3471"/>
              <a:ext cx="2645" cy="3858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5229782-5358-72ED-AA61-3242730AB832}"/>
                </a:ext>
              </a:extLst>
            </p:cNvPr>
            <p:cNvSpPr txBox="1"/>
            <p:nvPr/>
          </p:nvSpPr>
          <p:spPr>
            <a:xfrm>
              <a:off x="2309" y="7329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目标检测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0A399C3A-DD83-CD81-6B30-EB3553B21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543" y="1446144"/>
            <a:ext cx="6651457" cy="498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9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FD7B-6A31-8321-1616-E7F73207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B1DDEB8-4687-FDB7-3198-B0FA22050296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C1671A0-7667-4CA2-4E3C-079468003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89358E3-117A-7591-974A-20B71036A056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Detect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DF4260F-B66F-A97B-F58D-4074480C3BE5}"/>
              </a:ext>
            </a:extLst>
          </p:cNvPr>
          <p:cNvGrpSpPr/>
          <p:nvPr/>
        </p:nvGrpSpPr>
        <p:grpSpPr>
          <a:xfrm>
            <a:off x="971798" y="2481197"/>
            <a:ext cx="1679575" cy="2787015"/>
            <a:chOff x="1797" y="3471"/>
            <a:chExt cx="2645" cy="438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8B08B60-DD08-9EAD-46D0-990A3062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3100"/>
            <a:stretch>
              <a:fillRect/>
            </a:stretch>
          </p:blipFill>
          <p:spPr>
            <a:xfrm>
              <a:off x="1797" y="3471"/>
              <a:ext cx="2645" cy="3858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3502572-5303-4E15-3999-5AE421BC7078}"/>
                </a:ext>
              </a:extLst>
            </p:cNvPr>
            <p:cNvSpPr txBox="1"/>
            <p:nvPr/>
          </p:nvSpPr>
          <p:spPr>
            <a:xfrm>
              <a:off x="2309" y="7329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目标检测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FEC67D2-E6C5-FA43-9A74-F230C7D8E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291" y="1855468"/>
            <a:ext cx="7585911" cy="4267075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97503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CFF93-1FC1-6200-ECB5-47E0C244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A81DE2B-1C87-1B70-E9F8-CA8000C1EFBF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7F0A2AA-AFEC-5EA6-D6E7-E86D27072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F7DCFCB-C68E-BDA2-EC0E-5AA7D88A310F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）图像分割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Segment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33359BD-3C2C-B40A-3AEC-ED6C9EA2B615}"/>
              </a:ext>
            </a:extLst>
          </p:cNvPr>
          <p:cNvGrpSpPr/>
          <p:nvPr/>
        </p:nvGrpSpPr>
        <p:grpSpPr>
          <a:xfrm>
            <a:off x="1156282" y="2718925"/>
            <a:ext cx="1651635" cy="2852420"/>
            <a:chOff x="4442" y="3471"/>
            <a:chExt cx="2601" cy="4492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534A70C-68E9-D901-7FC6-B385B60F8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900" r="66481"/>
            <a:stretch>
              <a:fillRect/>
            </a:stretch>
          </p:blipFill>
          <p:spPr>
            <a:xfrm>
              <a:off x="4442" y="3471"/>
              <a:ext cx="2601" cy="385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7AC8EED-2EDF-A748-A700-0ED76032BA15}"/>
                </a:ext>
              </a:extLst>
            </p:cNvPr>
            <p:cNvSpPr txBox="1"/>
            <p:nvPr/>
          </p:nvSpPr>
          <p:spPr>
            <a:xfrm>
              <a:off x="4910" y="7432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图像分割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60D26C52-E618-92A3-14A4-DB99E25C2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16" y="1952569"/>
            <a:ext cx="7453563" cy="4192629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94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1351-BFFD-25C7-F5D5-0FCBD28F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E251FFA-CBF8-D127-8CAE-4F29CF8A2AB8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0420557-0FE0-FD9D-4326-7AD270E68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BA53754-CD68-7E76-02B6-97AC26482F39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）分类检测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Classify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7B5898A-7D46-AC60-4D66-623CF886A71C}"/>
              </a:ext>
            </a:extLst>
          </p:cNvPr>
          <p:cNvGrpSpPr/>
          <p:nvPr/>
        </p:nvGrpSpPr>
        <p:grpSpPr>
          <a:xfrm>
            <a:off x="1258551" y="2699345"/>
            <a:ext cx="1638300" cy="2852420"/>
            <a:chOff x="7043" y="3471"/>
            <a:chExt cx="2580" cy="449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7B52E84-F5D0-3954-E077-63F8439DC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519" r="49997"/>
            <a:stretch>
              <a:fillRect/>
            </a:stretch>
          </p:blipFill>
          <p:spPr>
            <a:xfrm>
              <a:off x="7043" y="3471"/>
              <a:ext cx="2580" cy="3858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D38F633-85BD-3F39-01B4-406DB13C000C}"/>
                </a:ext>
              </a:extLst>
            </p:cNvPr>
            <p:cNvSpPr txBox="1"/>
            <p:nvPr/>
          </p:nvSpPr>
          <p:spPr>
            <a:xfrm>
              <a:off x="7551" y="7432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分类检测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8A12AB24-6537-D172-1DF1-9793669E8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442" y="1654174"/>
            <a:ext cx="6978979" cy="4640279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37655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01A7-3BB9-566D-C1F5-FC86A3FF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F253E80-35AE-7686-7383-3C1F42FD4650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09AEA98-EAD3-F322-5E25-CC8E39E41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985D77D-6CB3-932B-E97E-9ACE92D7DA89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4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）姿态估计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Pose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B7C831D-D7D7-FFFF-BAFF-4D8AA7B773F9}"/>
              </a:ext>
            </a:extLst>
          </p:cNvPr>
          <p:cNvGrpSpPr/>
          <p:nvPr/>
        </p:nvGrpSpPr>
        <p:grpSpPr>
          <a:xfrm>
            <a:off x="1559340" y="2627301"/>
            <a:ext cx="1646555" cy="2787015"/>
            <a:chOff x="9623" y="3471"/>
            <a:chExt cx="2593" cy="438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0A16DA9-0DC0-862C-C99E-F0714B27C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3" r="33429"/>
            <a:stretch>
              <a:fillRect/>
            </a:stretch>
          </p:blipFill>
          <p:spPr>
            <a:xfrm>
              <a:off x="9623" y="3471"/>
              <a:ext cx="2593" cy="385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6931DB5-D146-C064-3124-551E18EB85CF}"/>
                </a:ext>
              </a:extLst>
            </p:cNvPr>
            <p:cNvSpPr txBox="1"/>
            <p:nvPr/>
          </p:nvSpPr>
          <p:spPr>
            <a:xfrm>
              <a:off x="10109" y="7329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姿态估计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AE70F02-7532-5448-D8DE-0722085601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153" y="1828450"/>
            <a:ext cx="6840338" cy="4275212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37130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94E6-A4C1-192A-E1E3-FA0EF34A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658E53C-FE88-7CEF-74CD-C3D9FD242FE1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204DB85-B35F-8236-F80F-239947F50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80C6775-F580-F090-FB9A-E74B2FE60E84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5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）方向物体检测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OBB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A8FB01-BC3D-FEFC-61ED-B663C8F4C152}"/>
              </a:ext>
            </a:extLst>
          </p:cNvPr>
          <p:cNvGrpSpPr/>
          <p:nvPr/>
        </p:nvGrpSpPr>
        <p:grpSpPr>
          <a:xfrm>
            <a:off x="1186361" y="2601691"/>
            <a:ext cx="1656080" cy="2787015"/>
            <a:chOff x="12202" y="3471"/>
            <a:chExt cx="2608" cy="438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0F06149-7515-25A1-DBD4-8CAD40A9A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81" r="16855"/>
            <a:stretch>
              <a:fillRect/>
            </a:stretch>
          </p:blipFill>
          <p:spPr>
            <a:xfrm>
              <a:off x="12202" y="3471"/>
              <a:ext cx="2608" cy="3858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702CEE9-3B5C-14F7-C83B-B53479BD11EF}"/>
                </a:ext>
              </a:extLst>
            </p:cNvPr>
            <p:cNvSpPr txBox="1"/>
            <p:nvPr/>
          </p:nvSpPr>
          <p:spPr>
            <a:xfrm>
              <a:off x="12338" y="7329"/>
              <a:ext cx="233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方向物体检测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224745FE-8AB4-31D6-5D13-84BED25F0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483" y="1805371"/>
            <a:ext cx="7555206" cy="4249273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07294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B909-6C61-1F6B-9D81-D9C1219A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58CC054-9EC1-6A36-9DE0-DFBDD98A12A4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1496C03-79C7-F267-FB86-7280500CB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5A23E0B-7288-04D5-52E3-A5AA6DFE9059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6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）目标追踪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Track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416F0B2-DBD7-1B47-465C-364FD92E25ED}"/>
              </a:ext>
            </a:extLst>
          </p:cNvPr>
          <p:cNvGrpSpPr/>
          <p:nvPr/>
        </p:nvGrpSpPr>
        <p:grpSpPr>
          <a:xfrm>
            <a:off x="1312693" y="2661697"/>
            <a:ext cx="1675130" cy="2787015"/>
            <a:chOff x="14810" y="3471"/>
            <a:chExt cx="2638" cy="438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1F2D73A-2DA4-9F0E-01C2-DED21E659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145"/>
            <a:stretch>
              <a:fillRect/>
            </a:stretch>
          </p:blipFill>
          <p:spPr>
            <a:xfrm>
              <a:off x="14810" y="3471"/>
              <a:ext cx="2638" cy="385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53F6510-FDA6-B363-B5F8-C51D0323E5FC}"/>
                </a:ext>
              </a:extLst>
            </p:cNvPr>
            <p:cNvSpPr txBox="1"/>
            <p:nvPr/>
          </p:nvSpPr>
          <p:spPr>
            <a:xfrm>
              <a:off x="15319" y="7329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目标追踪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4ECD3DC-AC3D-F92E-DFC1-590935EBF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768" y="1811689"/>
            <a:ext cx="7702216" cy="4332496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19780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67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5003326656316,&quot;left&quot;:52.12501220703125,&quot;top&quot;:205.77500610351564,&quot;width&quot;:850.37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heme/theme1.xml><?xml version="1.0" encoding="utf-8"?>
<a:theme xmlns:a="http://schemas.openxmlformats.org/drawingml/2006/main" name="课件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8447</TotalTime>
  <Words>694</Words>
  <Application>Microsoft Office PowerPoint</Application>
  <PresentationFormat>宽屏</PresentationFormat>
  <Paragraphs>97</Paragraphs>
  <Slides>39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等线</vt:lpstr>
      <vt:lpstr>微软雅黑</vt:lpstr>
      <vt:lpstr>Arial</vt:lpstr>
      <vt:lpstr>Calibri</vt:lpstr>
      <vt:lpstr>Wingdings</vt:lpstr>
      <vt:lpstr>课件主题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昌乐 余</dc:creator>
  <cp:lastModifiedBy>昌乐 余</cp:lastModifiedBy>
  <cp:revision>2465</cp:revision>
  <dcterms:created xsi:type="dcterms:W3CDTF">2025-06-28T12:32:25Z</dcterms:created>
  <dcterms:modified xsi:type="dcterms:W3CDTF">2026-05-27T00:18:13Z</dcterms:modified>
</cp:coreProperties>
</file>