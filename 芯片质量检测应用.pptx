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66" r:id="rId10"/>
    <p:sldId id="267" r:id="rId11"/>
    <p:sldId id="268" r:id="rId12"/>
    <p:sldId id="270" r:id="rId13"/>
    <p:sldId id="271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2A0"/>
    <a:srgbClr val="E2801E"/>
    <a:srgbClr val="E25535"/>
    <a:srgbClr val="D94F33"/>
    <a:srgbClr val="43AB54"/>
    <a:srgbClr val="101FFF"/>
    <a:srgbClr val="FE0000"/>
    <a:srgbClr val="7679F0"/>
    <a:srgbClr val="D5998E"/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ADD3-8E9D-4FD2-A8BC-85CF433C07B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C79-0DD5-41F6-A591-E6BEFB3A6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4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98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C9782E-F456-39E4-B5F0-0223E8B65D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5" name="图片 4" descr="/Users/imac/Library/Containers/com.kingsoft.wpsoffice.mac/Data/tmp/picturecompress_20241213185745/output_1.pngoutput_1">
            <a:extLst>
              <a:ext uri="{FF2B5EF4-FFF2-40B4-BE49-F238E27FC236}">
                <a16:creationId xmlns:a16="http://schemas.microsoft.com/office/drawing/2014/main" id="{C2CE6312-FFC8-8AA0-6AD5-D7BABCE5C3B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68456" y="4876307"/>
            <a:ext cx="7654446" cy="1886443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683CB9E-56E8-4F5D-72AF-CC4FA3B4ACA2}"/>
              </a:ext>
            </a:extLst>
          </p:cNvPr>
          <p:cNvGrpSpPr/>
          <p:nvPr userDrawn="1"/>
        </p:nvGrpSpPr>
        <p:grpSpPr>
          <a:xfrm>
            <a:off x="2384421" y="2082576"/>
            <a:ext cx="7422515" cy="1500789"/>
            <a:chOff x="2384742" y="2220599"/>
            <a:chExt cx="7422515" cy="15007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A7CFE06-73FC-8599-2883-FD9F6954653C}"/>
                </a:ext>
              </a:extLst>
            </p:cNvPr>
            <p:cNvSpPr txBox="1"/>
            <p:nvPr userDrawn="1">
              <p:custDataLst>
                <p:tags r:id="rId2"/>
              </p:custDataLst>
            </p:nvPr>
          </p:nvSpPr>
          <p:spPr>
            <a:xfrm>
              <a:off x="2701286" y="2220599"/>
              <a:ext cx="6788785" cy="70788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芯片质量检测应用</a:t>
              </a:r>
              <a:endParaRPr lang="en-US" altLang="zh-CN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3C0BF4-A5D9-EBBA-9864-528072F499F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2384742" y="3136613"/>
              <a:ext cx="7422515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Chip quality inspection application </a:t>
              </a:r>
              <a:endParaRPr lang="zh-CN" altLang="en-US" sz="32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2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8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203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53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4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EA383-531A-7770-1DB9-5C8AB246F39C}"/>
              </a:ext>
            </a:extLst>
          </p:cNvPr>
          <p:cNvGrpSpPr/>
          <p:nvPr userDrawn="1"/>
        </p:nvGrpSpPr>
        <p:grpSpPr>
          <a:xfrm>
            <a:off x="3493696" y="1443830"/>
            <a:ext cx="7358333" cy="3909379"/>
            <a:chOff x="3493696" y="1372471"/>
            <a:chExt cx="7358333" cy="390937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493696" y="137247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493697" y="249508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493696" y="4740303"/>
              <a:ext cx="7203057" cy="54154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493697" y="3617693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991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模型训练回顾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Training Review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63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模型效果分析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Performance Analysis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03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项目应用简介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Overview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80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项目应用实现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Implementation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41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A2D34C-8D4A-8AE7-481A-1047DEE32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8" name="图片 7" descr="/Users/imac/Library/Containers/com.kingsoft.wpsoffice.mac/Data/tmp/picturecompress_20241213185745/output_18.pngoutput_18">
            <a:extLst>
              <a:ext uri="{FF2B5EF4-FFF2-40B4-BE49-F238E27FC236}">
                <a16:creationId xmlns:a16="http://schemas.microsoft.com/office/drawing/2014/main" id="{25C4E88A-9A50-F24D-6E14-E24B7BD68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992309" y="4453255"/>
            <a:ext cx="8206740" cy="23094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14159-CD7B-2013-3CCD-70008441D3C2}"/>
              </a:ext>
            </a:extLst>
          </p:cNvPr>
          <p:cNvSpPr txBox="1"/>
          <p:nvPr userDrawn="1"/>
        </p:nvSpPr>
        <p:spPr>
          <a:xfrm>
            <a:off x="2701285" y="2232831"/>
            <a:ext cx="6788785" cy="710451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BAC1E-72D1-4C68-8026-226310C267B6}"/>
              </a:ext>
            </a:extLst>
          </p:cNvPr>
          <p:cNvSpPr txBox="1"/>
          <p:nvPr userDrawn="1"/>
        </p:nvSpPr>
        <p:spPr>
          <a:xfrm>
            <a:off x="3668391" y="3000599"/>
            <a:ext cx="485457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cs typeface="Lato Medium" panose="020F0502020204030203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85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27">
            <a:extLst>
              <a:ext uri="{FF2B5EF4-FFF2-40B4-BE49-F238E27FC236}">
                <a16:creationId xmlns:a16="http://schemas.microsoft.com/office/drawing/2014/main" id="{BD7EB354-5402-F955-1E0D-DBEE2B6321FF}"/>
              </a:ext>
            </a:extLst>
          </p:cNvPr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screen"/>
          <a:stretch>
            <a:fillRect/>
          </a:stretch>
        </p:blipFill>
        <p:spPr>
          <a:xfrm>
            <a:off x="0" y="6762750"/>
            <a:ext cx="1219136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6" r:id="rId5"/>
    <p:sldLayoutId id="2147483667" r:id="rId6"/>
    <p:sldLayoutId id="2147483652" r:id="rId7"/>
    <p:sldLayoutId id="2147483668" r:id="rId8"/>
    <p:sldLayoutId id="2147483669" r:id="rId9"/>
    <p:sldLayoutId id="2147483670" r:id="rId10"/>
    <p:sldLayoutId id="21474836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2.jp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3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C1B4CFC-6A6C-9BCC-140F-381FA1271C21}"/>
              </a:ext>
            </a:extLst>
          </p:cNvPr>
          <p:cNvGrpSpPr/>
          <p:nvPr/>
        </p:nvGrpSpPr>
        <p:grpSpPr>
          <a:xfrm>
            <a:off x="737754" y="2253671"/>
            <a:ext cx="2213187" cy="2983347"/>
            <a:chOff x="737754" y="2253671"/>
            <a:chExt cx="2213187" cy="2983347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C7AB391A-A6DD-61CC-5CC8-D56C5E2FBCEA}"/>
                </a:ext>
              </a:extLst>
            </p:cNvPr>
            <p:cNvSpPr/>
            <p:nvPr/>
          </p:nvSpPr>
          <p:spPr>
            <a:xfrm>
              <a:off x="737754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3B82F6"/>
            </a:solidFill>
            <a:ln/>
          </p:spPr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8B4907B0-80A4-5A90-A718-AC9F67DE3248}"/>
                </a:ext>
              </a:extLst>
            </p:cNvPr>
            <p:cNvSpPr/>
            <p:nvPr/>
          </p:nvSpPr>
          <p:spPr>
            <a:xfrm>
              <a:off x="737754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数据采集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552C254-13BF-00F4-2FF9-784100CBEE36}"/>
                </a:ext>
              </a:extLst>
            </p:cNvPr>
            <p:cNvSpPr/>
            <p:nvPr/>
          </p:nvSpPr>
          <p:spPr>
            <a:xfrm>
              <a:off x="737754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Collection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4C35C34B-51A8-982A-BAEC-5B65D9AE5E41}"/>
                </a:ext>
              </a:extLst>
            </p:cNvPr>
            <p:cNvSpPr/>
            <p:nvPr/>
          </p:nvSpPr>
          <p:spPr>
            <a:xfrm>
              <a:off x="2601491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64C09E5-425E-00BA-E539-0F483C152CB9}"/>
              </a:ext>
            </a:extLst>
          </p:cNvPr>
          <p:cNvGrpSpPr/>
          <p:nvPr/>
        </p:nvGrpSpPr>
        <p:grpSpPr>
          <a:xfrm>
            <a:off x="2950943" y="2253671"/>
            <a:ext cx="2213187" cy="2983347"/>
            <a:chOff x="2950943" y="2253671"/>
            <a:chExt cx="2213187" cy="2983347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B706C50-74AC-492D-9531-EDDE7DE032BB}"/>
                </a:ext>
              </a:extLst>
            </p:cNvPr>
            <p:cNvSpPr/>
            <p:nvPr/>
          </p:nvSpPr>
          <p:spPr>
            <a:xfrm>
              <a:off x="2950943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8B5CF6"/>
            </a:solidFill>
            <a:ln/>
          </p:spPr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0C7C04E6-023D-5E54-799A-F94FD00718CD}"/>
                </a:ext>
              </a:extLst>
            </p:cNvPr>
            <p:cNvSpPr/>
            <p:nvPr/>
          </p:nvSpPr>
          <p:spPr>
            <a:xfrm>
              <a:off x="2950943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数据清洗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55B972AC-46C1-C8D8-EF43-DE5091784ED5}"/>
                </a:ext>
              </a:extLst>
            </p:cNvPr>
            <p:cNvSpPr/>
            <p:nvPr/>
          </p:nvSpPr>
          <p:spPr>
            <a:xfrm>
              <a:off x="2950943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Cleaning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1FE65764-C181-3614-48B6-6A25D648E366}"/>
                </a:ext>
              </a:extLst>
            </p:cNvPr>
            <p:cNvSpPr/>
            <p:nvPr/>
          </p:nvSpPr>
          <p:spPr>
            <a:xfrm>
              <a:off x="4814680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BCEF1-CDA3-2AF4-2AD3-61FEAFFF8F62}"/>
              </a:ext>
            </a:extLst>
          </p:cNvPr>
          <p:cNvGrpSpPr/>
          <p:nvPr/>
        </p:nvGrpSpPr>
        <p:grpSpPr>
          <a:xfrm>
            <a:off x="5164130" y="2253671"/>
            <a:ext cx="2213189" cy="2983347"/>
            <a:chOff x="5164130" y="2253671"/>
            <a:chExt cx="2213189" cy="298334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8E243DA-7692-388E-8443-7E80F98A52EE}"/>
                </a:ext>
              </a:extLst>
            </p:cNvPr>
            <p:cNvSpPr/>
            <p:nvPr/>
          </p:nvSpPr>
          <p:spPr>
            <a:xfrm>
              <a:off x="5164130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EC4899"/>
            </a:solidFill>
            <a:ln/>
          </p:spPr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BD1417-7109-08B5-F183-139A01C2D8E5}"/>
                </a:ext>
              </a:extLst>
            </p:cNvPr>
            <p:cNvSpPr/>
            <p:nvPr/>
          </p:nvSpPr>
          <p:spPr>
            <a:xfrm>
              <a:off x="5164130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数据标注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FAE4F317-1282-FF10-A8A3-556F587B36B3}"/>
                </a:ext>
              </a:extLst>
            </p:cNvPr>
            <p:cNvSpPr/>
            <p:nvPr/>
          </p:nvSpPr>
          <p:spPr>
            <a:xfrm>
              <a:off x="5164130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Annotation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A979C65D-1ED9-3DC1-0FA6-532E7C88E8D7}"/>
                </a:ext>
              </a:extLst>
            </p:cNvPr>
            <p:cNvSpPr/>
            <p:nvPr/>
          </p:nvSpPr>
          <p:spPr>
            <a:xfrm>
              <a:off x="7027869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040D3B-319F-2B24-36B4-2F56ED49F3CB}"/>
              </a:ext>
            </a:extLst>
          </p:cNvPr>
          <p:cNvGrpSpPr/>
          <p:nvPr/>
        </p:nvGrpSpPr>
        <p:grpSpPr>
          <a:xfrm>
            <a:off x="7377319" y="2253671"/>
            <a:ext cx="2213187" cy="2983347"/>
            <a:chOff x="7377319" y="2253671"/>
            <a:chExt cx="2213187" cy="2983347"/>
          </a:xfrm>
        </p:grpSpPr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968DE899-30AD-20C0-FFC3-26586D1DB923}"/>
                </a:ext>
              </a:extLst>
            </p:cNvPr>
            <p:cNvSpPr/>
            <p:nvPr/>
          </p:nvSpPr>
          <p:spPr>
            <a:xfrm>
              <a:off x="7377319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F59E0B"/>
            </a:solidFill>
            <a:ln/>
          </p:spPr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9F536BE9-F9B5-A8BC-3ED6-A39D512B1814}"/>
                </a:ext>
              </a:extLst>
            </p:cNvPr>
            <p:cNvSpPr/>
            <p:nvPr/>
          </p:nvSpPr>
          <p:spPr>
            <a:xfrm>
              <a:off x="7377319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模型训练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FBF6930B-AB89-BEC6-D1E0-FE4FE93A93B6}"/>
                </a:ext>
              </a:extLst>
            </p:cNvPr>
            <p:cNvSpPr/>
            <p:nvPr/>
          </p:nvSpPr>
          <p:spPr>
            <a:xfrm>
              <a:off x="7377319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Training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Shape 21">
              <a:extLst>
                <a:ext uri="{FF2B5EF4-FFF2-40B4-BE49-F238E27FC236}">
                  <a16:creationId xmlns:a16="http://schemas.microsoft.com/office/drawing/2014/main" id="{25686BBF-ACEB-55BA-D297-4D84375EAFB1}"/>
                </a:ext>
              </a:extLst>
            </p:cNvPr>
            <p:cNvSpPr/>
            <p:nvPr/>
          </p:nvSpPr>
          <p:spPr>
            <a:xfrm>
              <a:off x="9241056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40B51A-06C0-84CA-541F-59846C0131A4}"/>
              </a:ext>
            </a:extLst>
          </p:cNvPr>
          <p:cNvGrpSpPr/>
          <p:nvPr/>
        </p:nvGrpSpPr>
        <p:grpSpPr>
          <a:xfrm>
            <a:off x="9590508" y="2253671"/>
            <a:ext cx="1863737" cy="2983347"/>
            <a:chOff x="9590508" y="2253671"/>
            <a:chExt cx="1863737" cy="2983347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D1B36334-36FD-3356-0BBD-4AF1A106524D}"/>
                </a:ext>
              </a:extLst>
            </p:cNvPr>
            <p:cNvSpPr/>
            <p:nvPr/>
          </p:nvSpPr>
          <p:spPr>
            <a:xfrm>
              <a:off x="9590508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10B981"/>
            </a:solidFill>
            <a:ln/>
          </p:spPr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27CF09A3-BF94-F7C5-EBFC-B0173A30DC1E}"/>
                </a:ext>
              </a:extLst>
            </p:cNvPr>
            <p:cNvSpPr/>
            <p:nvPr/>
          </p:nvSpPr>
          <p:spPr>
            <a:xfrm>
              <a:off x="9590508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模型测试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FDAF4F26-7E26-D0C3-9238-131162BB6270}"/>
                </a:ext>
              </a:extLst>
            </p:cNvPr>
            <p:cNvSpPr/>
            <p:nvPr/>
          </p:nvSpPr>
          <p:spPr>
            <a:xfrm>
              <a:off x="9590508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Testing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50C927B-A122-C2A5-A111-55F50AC230E1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348D4A2-6764-351B-C58D-5CB3AD0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67F2758-F111-4BF2-5E2F-F9D03E403E6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模型训练流程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Model training process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7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1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理想测试效果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desired test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9" name="右箭头 12">
            <a:extLst>
              <a:ext uri="{FF2B5EF4-FFF2-40B4-BE49-F238E27FC236}">
                <a16:creationId xmlns:a16="http://schemas.microsoft.com/office/drawing/2014/main" id="{B45DA1E7-02BF-50C9-A711-17E5BF0E50D9}"/>
              </a:ext>
            </a:extLst>
          </p:cNvPr>
          <p:cNvSpPr/>
          <p:nvPr/>
        </p:nvSpPr>
        <p:spPr>
          <a:xfrm>
            <a:off x="5774936" y="3429000"/>
            <a:ext cx="652613" cy="50590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BB7AAE-554C-F50D-EF03-76CDD0B374FA}"/>
              </a:ext>
            </a:extLst>
          </p:cNvPr>
          <p:cNvGrpSpPr/>
          <p:nvPr/>
        </p:nvGrpSpPr>
        <p:grpSpPr>
          <a:xfrm>
            <a:off x="677141" y="2009014"/>
            <a:ext cx="4744412" cy="4059913"/>
            <a:chOff x="848591" y="2140526"/>
            <a:chExt cx="4744412" cy="4059913"/>
          </a:xfrm>
        </p:grpSpPr>
        <p:pic>
          <p:nvPicPr>
            <p:cNvPr id="6" name="图片 5" descr="图片包含 物体, 前, 照片, 碗&#10;&#10;描述已自动生成">
              <a:extLst>
                <a:ext uri="{FF2B5EF4-FFF2-40B4-BE49-F238E27FC236}">
                  <a16:creationId xmlns:a16="http://schemas.microsoft.com/office/drawing/2014/main" id="{3F2BF7CC-47BC-C2CA-D6F9-434B4D01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91" y="2140526"/>
              <a:ext cx="4744412" cy="3558309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0727A1C-78CC-DDFE-6CFC-62FE29ABB9CF}"/>
                </a:ext>
              </a:extLst>
            </p:cNvPr>
            <p:cNvSpPr txBox="1"/>
            <p:nvPr/>
          </p:nvSpPr>
          <p:spPr>
            <a:xfrm>
              <a:off x="2270472" y="5831107"/>
              <a:ext cx="1900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24E2ED8-278B-867F-A72F-D017D577D074}"/>
              </a:ext>
            </a:extLst>
          </p:cNvPr>
          <p:cNvGrpSpPr/>
          <p:nvPr/>
        </p:nvGrpSpPr>
        <p:grpSpPr>
          <a:xfrm>
            <a:off x="6735424" y="2009014"/>
            <a:ext cx="4744411" cy="4072111"/>
            <a:chOff x="6906874" y="2140526"/>
            <a:chExt cx="4744411" cy="4072111"/>
          </a:xfrm>
        </p:grpSpPr>
        <p:pic>
          <p:nvPicPr>
            <p:cNvPr id="8" name="图片 7" descr="图片包含 屏幕, 前, 监控, 桌子&#10;&#10;描述已自动生成">
              <a:extLst>
                <a:ext uri="{FF2B5EF4-FFF2-40B4-BE49-F238E27FC236}">
                  <a16:creationId xmlns:a16="http://schemas.microsoft.com/office/drawing/2014/main" id="{26A4CE9D-4BCC-84EB-55FB-4973CF340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6874" y="2140526"/>
              <a:ext cx="4744411" cy="355830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ADF2AA4-5497-6F68-428B-1FFE22C4D7B1}"/>
                </a:ext>
              </a:extLst>
            </p:cNvPr>
            <p:cNvSpPr txBox="1"/>
            <p:nvPr/>
          </p:nvSpPr>
          <p:spPr>
            <a:xfrm>
              <a:off x="7627967" y="5843305"/>
              <a:ext cx="3683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 after quality inspection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67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505691" y="962235"/>
            <a:ext cx="11039764" cy="369332"/>
            <a:chOff x="470561" y="949180"/>
            <a:chExt cx="11039764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1069686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为什么我们自己训练的模型效果不好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Why do the models we train ourselves perform poorly?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D2190C1-822F-91E6-007D-3E1E16BC5E7F}"/>
              </a:ext>
            </a:extLst>
          </p:cNvPr>
          <p:cNvGrpSpPr/>
          <p:nvPr/>
        </p:nvGrpSpPr>
        <p:grpSpPr>
          <a:xfrm>
            <a:off x="1051791" y="1752203"/>
            <a:ext cx="3145851" cy="4391892"/>
            <a:chOff x="1051791" y="1752203"/>
            <a:chExt cx="3145851" cy="4391892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438054B-90E9-72BF-C708-7E46C79CE26A}"/>
                </a:ext>
              </a:extLst>
            </p:cNvPr>
            <p:cNvSpPr/>
            <p:nvPr/>
          </p:nvSpPr>
          <p:spPr>
            <a:xfrm>
              <a:off x="1051791" y="1752203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07EA7B1-7E91-914B-99BD-88E91952C3A3}"/>
                </a:ext>
              </a:extLst>
            </p:cNvPr>
            <p:cNvSpPr/>
            <p:nvPr/>
          </p:nvSpPr>
          <p:spPr>
            <a:xfrm>
              <a:off x="1051791" y="1814946"/>
              <a:ext cx="3145851" cy="188224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B661954-2829-908C-0DA9-89F4E79872F0}"/>
                </a:ext>
              </a:extLst>
            </p:cNvPr>
            <p:cNvSpPr/>
            <p:nvPr/>
          </p:nvSpPr>
          <p:spPr>
            <a:xfrm>
              <a:off x="1268746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图片数据量小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32812E08-67F7-A6BC-5830-8492E28FB5C1}"/>
                </a:ext>
              </a:extLst>
            </p:cNvPr>
            <p:cNvSpPr/>
            <p:nvPr/>
          </p:nvSpPr>
          <p:spPr>
            <a:xfrm>
              <a:off x="1243608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 Dataset</a:t>
              </a:r>
              <a:endParaRPr lang="en-US" sz="2800" b="1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884EB927-50F6-235A-2E09-C64F5D5CCA71}"/>
                </a:ext>
              </a:extLst>
            </p:cNvPr>
            <p:cNvSpPr/>
            <p:nvPr/>
          </p:nvSpPr>
          <p:spPr>
            <a:xfrm>
              <a:off x="1262671" y="4463702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训练样本不足，模型泛化能力差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F852DDC2-C518-CF92-1258-97D65175A597}"/>
                </a:ext>
              </a:extLst>
            </p:cNvPr>
            <p:cNvSpPr/>
            <p:nvPr/>
          </p:nvSpPr>
          <p:spPr>
            <a:xfrm>
              <a:off x="1268746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Insufficient training samples, poor model generalization</a:t>
              </a:r>
              <a:endParaRPr lang="en-US" sz="16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C121BD0-8FC3-AFDF-A0B0-AF208E94B8C8}"/>
              </a:ext>
            </a:extLst>
          </p:cNvPr>
          <p:cNvGrpSpPr/>
          <p:nvPr/>
        </p:nvGrpSpPr>
        <p:grpSpPr>
          <a:xfrm>
            <a:off x="4523075" y="1814946"/>
            <a:ext cx="3145851" cy="4391892"/>
            <a:chOff x="4523075" y="1814946"/>
            <a:chExt cx="3145851" cy="4391892"/>
          </a:xfrm>
        </p:grpSpPr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BD9C7D27-4656-965A-2AF5-53E35102F83F}"/>
                </a:ext>
              </a:extLst>
            </p:cNvPr>
            <p:cNvSpPr/>
            <p:nvPr/>
          </p:nvSpPr>
          <p:spPr>
            <a:xfrm>
              <a:off x="4523075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F9B0D76-D85F-F612-C115-F74278DA03CB}"/>
                </a:ext>
              </a:extLst>
            </p:cNvPr>
            <p:cNvSpPr/>
            <p:nvPr/>
          </p:nvSpPr>
          <p:spPr>
            <a:xfrm>
              <a:off x="4523075" y="1814946"/>
              <a:ext cx="3145851" cy="188224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76418F5E-3ADA-CDDB-202D-09F36E4B3986}"/>
                </a:ext>
              </a:extLst>
            </p:cNvPr>
            <p:cNvSpPr/>
            <p:nvPr/>
          </p:nvSpPr>
          <p:spPr>
            <a:xfrm>
              <a:off x="4740030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训练次数少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9CA79D9A-46FC-1296-E6C5-1918A7CC7FB9}"/>
                </a:ext>
              </a:extLst>
            </p:cNvPr>
            <p:cNvSpPr/>
            <p:nvPr/>
          </p:nvSpPr>
          <p:spPr>
            <a:xfrm>
              <a:off x="4714892" y="3383477"/>
              <a:ext cx="2711940" cy="3764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 </a:t>
              </a:r>
              <a:r>
                <a:rPr lang="en-US" sz="2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</a:t>
              </a: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Epochs</a:t>
              </a:r>
              <a:endParaRPr lang="en-US" sz="2400" b="1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5A07A166-ED02-BA19-08CD-EEF2B66253F0}"/>
                </a:ext>
              </a:extLst>
            </p:cNvPr>
            <p:cNvSpPr/>
            <p:nvPr/>
          </p:nvSpPr>
          <p:spPr>
            <a:xfrm>
              <a:off x="4746107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epochs设置较小，模型未充分学习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EE8B23D1-351E-53F2-9D0E-40C8DCA51FD6}"/>
                </a:ext>
              </a:extLst>
            </p:cNvPr>
            <p:cNvSpPr/>
            <p:nvPr/>
          </p:nvSpPr>
          <p:spPr>
            <a:xfrm>
              <a:off x="4740030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epoch count, insufficient model learning</a:t>
              </a:r>
              <a:endParaRPr lang="en-US" sz="1600" b="1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0C55925-B651-6442-5261-BAE9D97DF0DE}"/>
              </a:ext>
            </a:extLst>
          </p:cNvPr>
          <p:cNvGrpSpPr/>
          <p:nvPr/>
        </p:nvGrpSpPr>
        <p:grpSpPr>
          <a:xfrm>
            <a:off x="7994358" y="1814946"/>
            <a:ext cx="3145851" cy="4391892"/>
            <a:chOff x="7994358" y="1814946"/>
            <a:chExt cx="3145851" cy="4391892"/>
          </a:xfrm>
        </p:grpSpPr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3FE26F30-64ED-4F77-EB26-47CA7236F9FC}"/>
                </a:ext>
              </a:extLst>
            </p:cNvPr>
            <p:cNvSpPr/>
            <p:nvPr/>
          </p:nvSpPr>
          <p:spPr>
            <a:xfrm>
              <a:off x="7994358" y="1814946"/>
              <a:ext cx="3145851" cy="4391892"/>
            </a:xfrm>
            <a:prstGeom prst="roundRect">
              <a:avLst>
                <a:gd name="adj" fmla="val 3448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7" name="Shape 17">
              <a:extLst>
                <a:ext uri="{FF2B5EF4-FFF2-40B4-BE49-F238E27FC236}">
                  <a16:creationId xmlns:a16="http://schemas.microsoft.com/office/drawing/2014/main" id="{B7E5160C-3253-F55D-F5C4-EB1C594BCF7B}"/>
                </a:ext>
              </a:extLst>
            </p:cNvPr>
            <p:cNvSpPr/>
            <p:nvPr/>
          </p:nvSpPr>
          <p:spPr>
            <a:xfrm>
              <a:off x="7994358" y="1814946"/>
              <a:ext cx="3145851" cy="188224"/>
            </a:xfrm>
            <a:prstGeom prst="rect">
              <a:avLst/>
            </a:prstGeom>
            <a:solidFill>
              <a:srgbClr val="8B5CF6"/>
            </a:solidFill>
            <a:ln/>
          </p:spPr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581CC5C0-B32C-9027-00FF-386E61F6950D}"/>
                </a:ext>
              </a:extLst>
            </p:cNvPr>
            <p:cNvSpPr/>
            <p:nvPr/>
          </p:nvSpPr>
          <p:spPr>
            <a:xfrm>
              <a:off x="8211313" y="2536470"/>
              <a:ext cx="2711940" cy="501931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CPU训练耗时</a:t>
              </a:r>
              <a:endParaRPr 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728B412F-88E0-BA1F-717A-DE5C869F2874}"/>
                </a:ext>
              </a:extLst>
            </p:cNvPr>
            <p:cNvSpPr/>
            <p:nvPr/>
          </p:nvSpPr>
          <p:spPr>
            <a:xfrm>
              <a:off x="8211313" y="3195253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 Training Slow</a:t>
              </a:r>
              <a:endParaRPr lang="en-US" sz="2400" b="1" dirty="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545615FB-9E50-6696-032D-A156650D5DAA}"/>
                </a:ext>
              </a:extLst>
            </p:cNvPr>
            <p:cNvSpPr/>
            <p:nvPr/>
          </p:nvSpPr>
          <p:spPr>
            <a:xfrm>
              <a:off x="8217390" y="4469374"/>
              <a:ext cx="2711940" cy="627413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未使用GPU加速，训练效率低</a:t>
              </a:r>
              <a:endParaRPr 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8E66DA22-13F1-194D-DC49-DAAB8C7B4E46}"/>
                </a:ext>
              </a:extLst>
            </p:cNvPr>
            <p:cNvSpPr/>
            <p:nvPr/>
          </p:nvSpPr>
          <p:spPr>
            <a:xfrm>
              <a:off x="8211313" y="5155920"/>
              <a:ext cx="2711940" cy="7528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GPU acceleration, low training efficiency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9156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5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EB8416-C35E-13A6-416F-9C71F1353425}"/>
              </a:ext>
            </a:extLst>
          </p:cNvPr>
          <p:cNvGrpSpPr/>
          <p:nvPr/>
        </p:nvGrpSpPr>
        <p:grpSpPr>
          <a:xfrm>
            <a:off x="505691" y="881147"/>
            <a:ext cx="11039764" cy="874407"/>
            <a:chOff x="470561" y="868092"/>
            <a:chExt cx="11039764" cy="8744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222F1DD-D21B-67AB-0049-C88F3430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8F01702-9157-54CB-9916-C16E017D39CA}"/>
                </a:ext>
              </a:extLst>
            </p:cNvPr>
            <p:cNvSpPr txBox="1"/>
            <p:nvPr/>
          </p:nvSpPr>
          <p:spPr>
            <a:xfrm>
              <a:off x="813461" y="868092"/>
              <a:ext cx="10696864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模型训练好了，我们可以用这个模型来干什么？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chip quality inspection model is trained, what can we do with this model?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屏幕上有字&#10;&#10;低可信度描述已自动生成">
            <a:extLst>
              <a:ext uri="{FF2B5EF4-FFF2-40B4-BE49-F238E27FC236}">
                <a16:creationId xmlns:a16="http://schemas.microsoft.com/office/drawing/2014/main" id="{B5F3B647-EFC7-B8B3-E027-28381FBB0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35" y="1863435"/>
            <a:ext cx="5994400" cy="4495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071C0E-E11B-AC3F-26FF-CDBFDD228A98}"/>
              </a:ext>
            </a:extLst>
          </p:cNvPr>
          <p:cNvSpPr txBox="1"/>
          <p:nvPr/>
        </p:nvSpPr>
        <p:spPr>
          <a:xfrm>
            <a:off x="905165" y="3233360"/>
            <a:ext cx="3423286" cy="1755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8800" dirty="0">
                <a:solidFill>
                  <a:srgbClr val="0068B7"/>
                </a:solidFill>
                <a:latin typeface="Arial" panose="020B0604020202020204" pitchFamily="34" charset="0"/>
                <a:ea typeface="微软雅黑" panose="020B0503020204020204" charset="-122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3271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11180618" cy="458908"/>
            <a:chOff x="470561" y="846388"/>
            <a:chExt cx="11180618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10837718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编程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 programming language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6E98A2-3539-5EB0-7DC3-D6B68B889BDA}"/>
              </a:ext>
            </a:extLst>
          </p:cNvPr>
          <p:cNvGrpSpPr/>
          <p:nvPr/>
        </p:nvGrpSpPr>
        <p:grpSpPr>
          <a:xfrm>
            <a:off x="848591" y="6009970"/>
            <a:ext cx="10747168" cy="418191"/>
            <a:chOff x="825336" y="2707204"/>
            <a:chExt cx="10747168" cy="41819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CA1F2CD-665D-08D6-65AE-A0E5FC574977}"/>
                </a:ext>
              </a:extLst>
            </p:cNvPr>
            <p:cNvSpPr txBox="1"/>
            <p:nvPr/>
          </p:nvSpPr>
          <p:spPr>
            <a:xfrm>
              <a:off x="1126319" y="2707204"/>
              <a:ext cx="10446185" cy="4181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TIOBE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官网：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https://www.tiobe.com/tiobe-index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5DE046-9511-3094-3A2B-28C695A5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36" y="2799983"/>
              <a:ext cx="300983" cy="300983"/>
            </a:xfrm>
            <a:prstGeom prst="rect">
              <a:avLst/>
            </a:prstGeom>
          </p:spPr>
        </p:pic>
      </p:grpSp>
      <p:pic>
        <p:nvPicPr>
          <p:cNvPr id="10" name="图片 9" descr="图形用户界面&#10;&#10;描述已自动生成">
            <a:extLst>
              <a:ext uri="{FF2B5EF4-FFF2-40B4-BE49-F238E27FC236}">
                <a16:creationId xmlns:a16="http://schemas.microsoft.com/office/drawing/2014/main" id="{A06B0199-FD6A-B340-A5BB-B10A70EA7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2914507"/>
            <a:ext cx="10353387" cy="2755883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9D3217-1B3C-8DE9-63C4-931D4C136114}"/>
              </a:ext>
            </a:extLst>
          </p:cNvPr>
          <p:cNvGrpSpPr/>
          <p:nvPr/>
        </p:nvGrpSpPr>
        <p:grpSpPr>
          <a:xfrm>
            <a:off x="872907" y="1659286"/>
            <a:ext cx="10099893" cy="914286"/>
            <a:chOff x="872907" y="1599308"/>
            <a:chExt cx="10099893" cy="91428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FC2A716-DE40-FCC8-8B33-22728ADD2FC3}"/>
                </a:ext>
              </a:extLst>
            </p:cNvPr>
            <p:cNvSpPr txBox="1"/>
            <p:nvPr/>
          </p:nvSpPr>
          <p:spPr>
            <a:xfrm>
              <a:off x="4073485" y="1640952"/>
              <a:ext cx="689931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 is a very popular programming language for AI</a:t>
              </a:r>
              <a:endParaRPr lang="zh-CN" altLang="en-US" sz="2400" b="1" dirty="0"/>
            </a:p>
          </p:txBody>
        </p:sp>
        <p:pic>
          <p:nvPicPr>
            <p:cNvPr id="14" name="图片 13" descr="徽标&#10;&#10;中度可信度描述已自动生成">
              <a:extLst>
                <a:ext uri="{FF2B5EF4-FFF2-40B4-BE49-F238E27FC236}">
                  <a16:creationId xmlns:a16="http://schemas.microsoft.com/office/drawing/2014/main" id="{1A943F7C-8F5F-04F0-733C-775E01E04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07" y="1599308"/>
              <a:ext cx="2742857" cy="914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06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集成开发环境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Used for Python programming and development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1B45AF-696D-6259-1A2F-3847D2ACAFAE}"/>
              </a:ext>
            </a:extLst>
          </p:cNvPr>
          <p:cNvGrpSpPr/>
          <p:nvPr/>
        </p:nvGrpSpPr>
        <p:grpSpPr>
          <a:xfrm>
            <a:off x="975830" y="1630478"/>
            <a:ext cx="10240339" cy="1054856"/>
            <a:chOff x="1070061" y="2088027"/>
            <a:chExt cx="10240339" cy="10548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EDCC8F-ED1A-761D-03D7-D104863BD39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252789" y="2088028"/>
              <a:ext cx="8057611" cy="105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t" anchorCtr="0">
              <a:noAutofit/>
            </a:bodyPr>
            <a:lstStyle/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简要介绍：一种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Python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IDE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ntegrated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evelopment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nvironment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集成开发环境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），带有一整套开发时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提高效率的工具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，比如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调试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语法高亮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代码跳转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智能提示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、单元测试、版本控制等。</a:t>
              </a:r>
              <a:endPara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官方网址：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https://www.jetbrains.com.cn/en-us/pycharm/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Title-1">
              <a:extLst>
                <a:ext uri="{FF2B5EF4-FFF2-40B4-BE49-F238E27FC236}">
                  <a16:creationId xmlns:a16="http://schemas.microsoft.com/office/drawing/2014/main" id="{9220CE85-B3AC-2578-88FC-7A225D77F1F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0061" y="2088027"/>
              <a:ext cx="1991368" cy="105485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7D492"/>
                </a:gs>
                <a:gs pos="100000">
                  <a:srgbClr val="F9EE40"/>
                </a:gs>
              </a:gsLst>
              <a:lin ang="0" scaled="0"/>
            </a:gra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1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17BF1F-1E02-A6E9-BB78-AD45A38C9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5411" y="2214748"/>
              <a:ext cx="782782" cy="782782"/>
            </a:xfrm>
            <a:prstGeom prst="rect">
              <a:avLst/>
            </a:prstGeom>
          </p:spPr>
        </p:pic>
      </p:grpSp>
      <p:pic>
        <p:nvPicPr>
          <p:cNvPr id="38" name="图片 37" descr="电子设备的屏幕&#10;&#10;描述已自动生成">
            <a:extLst>
              <a:ext uri="{FF2B5EF4-FFF2-40B4-BE49-F238E27FC236}">
                <a16:creationId xmlns:a16="http://schemas.microsoft.com/office/drawing/2014/main" id="{797BD0DC-31D2-8565-7287-70D32BF99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0" y="2905097"/>
            <a:ext cx="8174182" cy="3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10457872" cy="874407"/>
            <a:chOff x="470561" y="846388"/>
            <a:chExt cx="10457872" cy="87440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0" y="846388"/>
              <a:ext cx="10114973" cy="8744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单张图片不同质量芯片数量统计功能编程实现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Programming implementation of the counting function for chip counts of different qualities in a single image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720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7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5003326656316,&quot;left&quot;:52.12501220703125,&quot;top&quot;:205.77500610351564,&quot;width&quot;:850.37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heme/theme1.xml><?xml version="1.0" encoding="utf-8"?>
<a:theme xmlns:a="http://schemas.openxmlformats.org/drawingml/2006/main" name="课件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8183</TotalTime>
  <Words>266</Words>
  <Application>Microsoft Office PowerPoint</Application>
  <PresentationFormat>宽屏</PresentationFormat>
  <Paragraphs>39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课件主题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昌乐 余</dc:creator>
  <cp:lastModifiedBy>昌乐 余</cp:lastModifiedBy>
  <cp:revision>2314</cp:revision>
  <dcterms:created xsi:type="dcterms:W3CDTF">2025-06-28T12:32:25Z</dcterms:created>
  <dcterms:modified xsi:type="dcterms:W3CDTF">2026-05-23T06:30:54Z</dcterms:modified>
</cp:coreProperties>
</file>