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62" r:id="rId4"/>
    <p:sldId id="264" r:id="rId5"/>
    <p:sldId id="265" r:id="rId6"/>
    <p:sldId id="266" r:id="rId7"/>
    <p:sldId id="269" r:id="rId8"/>
    <p:sldId id="268" r:id="rId9"/>
    <p:sldId id="270" r:id="rId10"/>
    <p:sldId id="271" r:id="rId11"/>
    <p:sldId id="272" r:id="rId12"/>
    <p:sldId id="273" r:id="rId13"/>
    <p:sldId id="267" r:id="rId14"/>
    <p:sldId id="25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AB54"/>
    <a:srgbClr val="2152A0"/>
    <a:srgbClr val="E2801E"/>
    <a:srgbClr val="E25535"/>
    <a:srgbClr val="D94F33"/>
    <a:srgbClr val="101FFF"/>
    <a:srgbClr val="FE0000"/>
    <a:srgbClr val="7679F0"/>
    <a:srgbClr val="D5998E"/>
    <a:srgbClr val="D42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94" autoAdjust="0"/>
  </p:normalViewPr>
  <p:slideViewPr>
    <p:cSldViewPr snapToGrid="0">
      <p:cViewPr varScale="1">
        <p:scale>
          <a:sx n="106" d="100"/>
          <a:sy n="106" d="100"/>
        </p:scale>
        <p:origin x="20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5ADD3-8E9D-4FD2-A8BC-85CF433C07BA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9BC79-0DD5-41F6-A591-E6BEFB3A68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1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8C9782E-F456-39E4-B5F0-0223E8B65D7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pic>
        <p:nvPicPr>
          <p:cNvPr id="5" name="图片 4" descr="/Users/imac/Library/Containers/com.kingsoft.wpsoffice.mac/Data/tmp/picturecompress_20241213185745/output_1.pngoutput_1">
            <a:extLst>
              <a:ext uri="{FF2B5EF4-FFF2-40B4-BE49-F238E27FC236}">
                <a16:creationId xmlns:a16="http://schemas.microsoft.com/office/drawing/2014/main" id="{C2CE6312-FFC8-8AA0-6AD5-D7BABCE5C3B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68456" y="4876307"/>
            <a:ext cx="7654446" cy="1886443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09AC634D-9175-BA03-7B47-2859FD71FB20}"/>
              </a:ext>
            </a:extLst>
          </p:cNvPr>
          <p:cNvGrpSpPr/>
          <p:nvPr userDrawn="1"/>
        </p:nvGrpSpPr>
        <p:grpSpPr>
          <a:xfrm>
            <a:off x="2383771" y="1685980"/>
            <a:ext cx="7422515" cy="1365111"/>
            <a:chOff x="2383771" y="1685980"/>
            <a:chExt cx="7422515" cy="136511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A7CFE06-73FC-8599-2883-FD9F6954653C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2700640" y="1685980"/>
              <a:ext cx="6788785" cy="70788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</a:rPr>
                <a:t>芯片检测模型训练</a:t>
              </a:r>
              <a:endParaRPr lang="en-US" altLang="zh-CN" sz="4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83C0BF4-A5D9-EBBA-9864-528072F499FB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2383771" y="2466316"/>
              <a:ext cx="7422515" cy="58477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</a:rPr>
                <a:t>Chip detection model training</a:t>
              </a:r>
              <a:endParaRPr lang="zh-CN" altLang="en-US" sz="32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A61BF40-6E99-A68B-26B4-B94EAABDC752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4159477" y="4247184"/>
            <a:ext cx="3871105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余昌乐</a:t>
            </a:r>
            <a:r>
              <a:rPr lang="en-US" altLang="zh-CN" sz="18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	   Yu </a:t>
            </a:r>
            <a:r>
              <a:rPr lang="en-US" altLang="zh-CN" sz="1800" b="1" dirty="0" err="1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Changle</a:t>
            </a:r>
            <a:r>
              <a:rPr lang="en-US" altLang="zh-CN" sz="18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800" b="1" dirty="0">
              <a:solidFill>
                <a:srgbClr val="2152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321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芯片检测模型训练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Chip detection model training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8633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A2D34C-8D4A-8AE7-481A-1047DEE32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pic>
        <p:nvPicPr>
          <p:cNvPr id="8" name="图片 7" descr="/Users/imac/Library/Containers/com.kingsoft.wpsoffice.mac/Data/tmp/picturecompress_20241213185745/output_18.pngoutput_18">
            <a:extLst>
              <a:ext uri="{FF2B5EF4-FFF2-40B4-BE49-F238E27FC236}">
                <a16:creationId xmlns:a16="http://schemas.microsoft.com/office/drawing/2014/main" id="{25C4E88A-9A50-F24D-6E14-E24B7BD684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992309" y="4453255"/>
            <a:ext cx="8206740" cy="230949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BC14159-CD7B-2013-3CCD-70008441D3C2}"/>
              </a:ext>
            </a:extLst>
          </p:cNvPr>
          <p:cNvSpPr txBox="1"/>
          <p:nvPr userDrawn="1"/>
        </p:nvSpPr>
        <p:spPr>
          <a:xfrm>
            <a:off x="2701285" y="2232831"/>
            <a:ext cx="6788785" cy="710451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6BAC1E-72D1-4C68-8026-226310C267B6}"/>
              </a:ext>
            </a:extLst>
          </p:cNvPr>
          <p:cNvSpPr txBox="1"/>
          <p:nvPr userDrawn="1"/>
        </p:nvSpPr>
        <p:spPr>
          <a:xfrm>
            <a:off x="3668391" y="3000599"/>
            <a:ext cx="485457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  <a:cs typeface="Lato Medium" panose="020F0502020204030203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98536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27">
            <a:extLst>
              <a:ext uri="{FF2B5EF4-FFF2-40B4-BE49-F238E27FC236}">
                <a16:creationId xmlns:a16="http://schemas.microsoft.com/office/drawing/2014/main" id="{BD7EB354-5402-F955-1E0D-DBEE2B6321FF}"/>
              </a:ext>
            </a:extLst>
          </p:cNvPr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0" y="6762750"/>
            <a:ext cx="12191365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97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9DEFE29-5B6B-8DE1-28D6-EC59310C3935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287952E-1495-E129-8136-418B1DE9C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6FF3A55-6C0A-26EE-49B7-AD0F4B00BC31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芯片检测演示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Chip detection demonstration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5B3DDD8-16CE-339D-38AA-BD8707A07CD3}"/>
              </a:ext>
            </a:extLst>
          </p:cNvPr>
          <p:cNvGrpSpPr/>
          <p:nvPr/>
        </p:nvGrpSpPr>
        <p:grpSpPr>
          <a:xfrm>
            <a:off x="645391" y="1738725"/>
            <a:ext cx="5025737" cy="4496151"/>
            <a:chOff x="645391" y="1738725"/>
            <a:chExt cx="5025737" cy="4496151"/>
          </a:xfrm>
        </p:grpSpPr>
        <p:pic>
          <p:nvPicPr>
            <p:cNvPr id="3" name="图片 2" descr="图标&#10;&#10;描述已自动生成">
              <a:extLst>
                <a:ext uri="{FF2B5EF4-FFF2-40B4-BE49-F238E27FC236}">
                  <a16:creationId xmlns:a16="http://schemas.microsoft.com/office/drawing/2014/main" id="{8163A0C7-E267-CEBA-6E48-9022EC243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391" y="1738725"/>
              <a:ext cx="5025737" cy="3917118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4BCB61C-CC31-4ADA-7821-0350B19D5055}"/>
                </a:ext>
              </a:extLst>
            </p:cNvPr>
            <p:cNvSpPr txBox="1"/>
            <p:nvPr/>
          </p:nvSpPr>
          <p:spPr>
            <a:xfrm>
              <a:off x="2115265" y="5834766"/>
              <a:ext cx="20859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Original image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右箭头 12">
            <a:extLst>
              <a:ext uri="{FF2B5EF4-FFF2-40B4-BE49-F238E27FC236}">
                <a16:creationId xmlns:a16="http://schemas.microsoft.com/office/drawing/2014/main" id="{8B05285B-23D5-8C5F-55A8-FD6ACEE429C4}"/>
              </a:ext>
            </a:extLst>
          </p:cNvPr>
          <p:cNvSpPr/>
          <p:nvPr/>
        </p:nvSpPr>
        <p:spPr>
          <a:xfrm>
            <a:off x="5971933" y="3444332"/>
            <a:ext cx="652613" cy="505904"/>
          </a:xfrm>
          <a:prstGeom prst="rightArrow">
            <a:avLst/>
          </a:prstGeom>
          <a:solidFill>
            <a:srgbClr val="43AB54"/>
          </a:solidFill>
          <a:ln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D483B37-DFD8-A83C-611B-16324C4437B8}"/>
              </a:ext>
            </a:extLst>
          </p:cNvPr>
          <p:cNvGrpSpPr/>
          <p:nvPr/>
        </p:nvGrpSpPr>
        <p:grpSpPr>
          <a:xfrm>
            <a:off x="6839002" y="1734451"/>
            <a:ext cx="4677617" cy="4501137"/>
            <a:chOff x="6839002" y="1734451"/>
            <a:chExt cx="4677617" cy="4501137"/>
          </a:xfrm>
        </p:grpSpPr>
        <p:pic>
          <p:nvPicPr>
            <p:cNvPr id="10" name="图片 9" descr="蓝色的标志&#10;&#10;描述已自动生成">
              <a:extLst>
                <a:ext uri="{FF2B5EF4-FFF2-40B4-BE49-F238E27FC236}">
                  <a16:creationId xmlns:a16="http://schemas.microsoft.com/office/drawing/2014/main" id="{16633957-B89B-492D-4110-E310DB00B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9002" y="1734451"/>
              <a:ext cx="4677617" cy="3921392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3DAFC01-B858-0772-6817-ABAFA378A7DC}"/>
                </a:ext>
              </a:extLst>
            </p:cNvPr>
            <p:cNvSpPr txBox="1"/>
            <p:nvPr/>
          </p:nvSpPr>
          <p:spPr>
            <a:xfrm>
              <a:off x="8017436" y="5835478"/>
              <a:ext cx="23207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Detected Image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50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>
            <a:extLst>
              <a:ext uri="{FF2B5EF4-FFF2-40B4-BE49-F238E27FC236}">
                <a16:creationId xmlns:a16="http://schemas.microsoft.com/office/drawing/2014/main" id="{2C1B4CFC-6A6C-9BCC-140F-381FA1271C21}"/>
              </a:ext>
            </a:extLst>
          </p:cNvPr>
          <p:cNvGrpSpPr/>
          <p:nvPr/>
        </p:nvGrpSpPr>
        <p:grpSpPr>
          <a:xfrm>
            <a:off x="830118" y="1727854"/>
            <a:ext cx="2726418" cy="4223329"/>
            <a:chOff x="737754" y="2253671"/>
            <a:chExt cx="2213187" cy="2983347"/>
          </a:xfrm>
        </p:grpSpPr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C7AB391A-A6DD-61CC-5CC8-D56C5E2FBCEA}"/>
                </a:ext>
              </a:extLst>
            </p:cNvPr>
            <p:cNvSpPr/>
            <p:nvPr/>
          </p:nvSpPr>
          <p:spPr>
            <a:xfrm>
              <a:off x="737754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3B82F6"/>
            </a:solidFill>
            <a:ln/>
          </p:spPr>
        </p:sp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8B4907B0-80A4-5A90-A718-AC9F67DE3248}"/>
                </a:ext>
              </a:extLst>
            </p:cNvPr>
            <p:cNvSpPr/>
            <p:nvPr/>
          </p:nvSpPr>
          <p:spPr>
            <a:xfrm>
              <a:off x="737754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数据采集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2552C254-13BF-00F4-2FF9-784100CBEE36}"/>
                </a:ext>
              </a:extLst>
            </p:cNvPr>
            <p:cNvSpPr/>
            <p:nvPr/>
          </p:nvSpPr>
          <p:spPr>
            <a:xfrm>
              <a:off x="737754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Collection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Shape 6">
              <a:extLst>
                <a:ext uri="{FF2B5EF4-FFF2-40B4-BE49-F238E27FC236}">
                  <a16:creationId xmlns:a16="http://schemas.microsoft.com/office/drawing/2014/main" id="{4C35C34B-51A8-982A-BAEC-5B65D9AE5E41}"/>
                </a:ext>
              </a:extLst>
            </p:cNvPr>
            <p:cNvSpPr/>
            <p:nvPr/>
          </p:nvSpPr>
          <p:spPr>
            <a:xfrm>
              <a:off x="2601491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58BCEF1-CDA3-2AF4-2AD3-61FEAFFF8F62}"/>
              </a:ext>
            </a:extLst>
          </p:cNvPr>
          <p:cNvGrpSpPr/>
          <p:nvPr/>
        </p:nvGrpSpPr>
        <p:grpSpPr>
          <a:xfrm>
            <a:off x="3556536" y="1727854"/>
            <a:ext cx="2726421" cy="4223329"/>
            <a:chOff x="5164130" y="2253671"/>
            <a:chExt cx="2213189" cy="2983347"/>
          </a:xfrm>
        </p:grpSpPr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D8E243DA-7692-388E-8443-7E80F98A52EE}"/>
                </a:ext>
              </a:extLst>
            </p:cNvPr>
            <p:cNvSpPr/>
            <p:nvPr/>
          </p:nvSpPr>
          <p:spPr>
            <a:xfrm>
              <a:off x="5164130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EC4899"/>
            </a:solidFill>
            <a:ln/>
          </p:spPr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79BD1417-7109-08B5-F183-139A01C2D8E5}"/>
                </a:ext>
              </a:extLst>
            </p:cNvPr>
            <p:cNvSpPr/>
            <p:nvPr/>
          </p:nvSpPr>
          <p:spPr>
            <a:xfrm>
              <a:off x="5164130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数据标注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15">
              <a:extLst>
                <a:ext uri="{FF2B5EF4-FFF2-40B4-BE49-F238E27FC236}">
                  <a16:creationId xmlns:a16="http://schemas.microsoft.com/office/drawing/2014/main" id="{FAE4F317-1282-FF10-A8A3-556F587B36B3}"/>
                </a:ext>
              </a:extLst>
            </p:cNvPr>
            <p:cNvSpPr/>
            <p:nvPr/>
          </p:nvSpPr>
          <p:spPr>
            <a:xfrm>
              <a:off x="5164130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Annotation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A979C65D-1ED9-3DC1-0FA6-532E7C88E8D7}"/>
                </a:ext>
              </a:extLst>
            </p:cNvPr>
            <p:cNvSpPr/>
            <p:nvPr/>
          </p:nvSpPr>
          <p:spPr>
            <a:xfrm>
              <a:off x="7027869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B040D3B-319F-2B24-36B4-2F56ED49F3CB}"/>
              </a:ext>
            </a:extLst>
          </p:cNvPr>
          <p:cNvGrpSpPr/>
          <p:nvPr/>
        </p:nvGrpSpPr>
        <p:grpSpPr>
          <a:xfrm>
            <a:off x="6282957" y="1727854"/>
            <a:ext cx="2726418" cy="4223329"/>
            <a:chOff x="7377319" y="2253671"/>
            <a:chExt cx="2213187" cy="2983347"/>
          </a:xfrm>
        </p:grpSpPr>
        <p:sp>
          <p:nvSpPr>
            <p:cNvPr id="41" name="Shape 17">
              <a:extLst>
                <a:ext uri="{FF2B5EF4-FFF2-40B4-BE49-F238E27FC236}">
                  <a16:creationId xmlns:a16="http://schemas.microsoft.com/office/drawing/2014/main" id="{968DE899-30AD-20C0-FFC3-26586D1DB923}"/>
                </a:ext>
              </a:extLst>
            </p:cNvPr>
            <p:cNvSpPr/>
            <p:nvPr/>
          </p:nvSpPr>
          <p:spPr>
            <a:xfrm>
              <a:off x="7377319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F59E0B"/>
            </a:solidFill>
            <a:ln/>
          </p:spPr>
        </p:sp>
        <p:sp>
          <p:nvSpPr>
            <p:cNvPr id="43" name="Text 19">
              <a:extLst>
                <a:ext uri="{FF2B5EF4-FFF2-40B4-BE49-F238E27FC236}">
                  <a16:creationId xmlns:a16="http://schemas.microsoft.com/office/drawing/2014/main" id="{9F536BE9-F9B5-A8BC-3ED6-A39D512B1814}"/>
                </a:ext>
              </a:extLst>
            </p:cNvPr>
            <p:cNvSpPr/>
            <p:nvPr/>
          </p:nvSpPr>
          <p:spPr>
            <a:xfrm>
              <a:off x="7377319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模型训练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 20">
              <a:extLst>
                <a:ext uri="{FF2B5EF4-FFF2-40B4-BE49-F238E27FC236}">
                  <a16:creationId xmlns:a16="http://schemas.microsoft.com/office/drawing/2014/main" id="{FBF6930B-AB89-BEC6-D1E0-FE4FE93A93B6}"/>
                </a:ext>
              </a:extLst>
            </p:cNvPr>
            <p:cNvSpPr/>
            <p:nvPr/>
          </p:nvSpPr>
          <p:spPr>
            <a:xfrm>
              <a:off x="7377319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Model Training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Shape 21">
              <a:extLst>
                <a:ext uri="{FF2B5EF4-FFF2-40B4-BE49-F238E27FC236}">
                  <a16:creationId xmlns:a16="http://schemas.microsoft.com/office/drawing/2014/main" id="{25686BBF-ACEB-55BA-D297-4D84375EAFB1}"/>
                </a:ext>
              </a:extLst>
            </p:cNvPr>
            <p:cNvSpPr/>
            <p:nvPr/>
          </p:nvSpPr>
          <p:spPr>
            <a:xfrm>
              <a:off x="9241056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740B51A-06C0-84CA-541F-59846C0131A4}"/>
              </a:ext>
            </a:extLst>
          </p:cNvPr>
          <p:cNvGrpSpPr/>
          <p:nvPr/>
        </p:nvGrpSpPr>
        <p:grpSpPr>
          <a:xfrm>
            <a:off x="9009377" y="1727854"/>
            <a:ext cx="2295932" cy="4223329"/>
            <a:chOff x="9590508" y="2253671"/>
            <a:chExt cx="1863737" cy="2983347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D1B36334-36FD-3356-0BBD-4AF1A106524D}"/>
                </a:ext>
              </a:extLst>
            </p:cNvPr>
            <p:cNvSpPr/>
            <p:nvPr/>
          </p:nvSpPr>
          <p:spPr>
            <a:xfrm>
              <a:off x="9590508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10B981"/>
            </a:solidFill>
            <a:ln/>
          </p:spPr>
        </p:sp>
        <p:sp>
          <p:nvSpPr>
            <p:cNvPr id="48" name="Text 24">
              <a:extLst>
                <a:ext uri="{FF2B5EF4-FFF2-40B4-BE49-F238E27FC236}">
                  <a16:creationId xmlns:a16="http://schemas.microsoft.com/office/drawing/2014/main" id="{27CF09A3-BF94-F7C5-EBFC-B0173A30DC1E}"/>
                </a:ext>
              </a:extLst>
            </p:cNvPr>
            <p:cNvSpPr/>
            <p:nvPr/>
          </p:nvSpPr>
          <p:spPr>
            <a:xfrm>
              <a:off x="9590508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模型测试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 25">
              <a:extLst>
                <a:ext uri="{FF2B5EF4-FFF2-40B4-BE49-F238E27FC236}">
                  <a16:creationId xmlns:a16="http://schemas.microsoft.com/office/drawing/2014/main" id="{FDAF4F26-7E26-D0C3-9238-131162BB6270}"/>
                </a:ext>
              </a:extLst>
            </p:cNvPr>
            <p:cNvSpPr/>
            <p:nvPr/>
          </p:nvSpPr>
          <p:spPr>
            <a:xfrm>
              <a:off x="9590508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Model Testing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50C927B-A122-C2A5-A111-55F50AC230E1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8348D4A2-6764-351B-C58D-5CB3AD0C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67F2758-F111-4BF2-5E2F-F9D03E403E6B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模型训练流程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Model training process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27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99152D5-4A28-B9D0-2810-325D6A2CFA8C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7CC5A65-F75B-F4AA-B2C8-3D592EE9E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66E5B53-ABB4-2053-E490-6B777C7A0DE7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第一步：数据采集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Step 1: Data Collection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6" name="图片 5" descr="图形用户界面, 网站&#10;&#10;描述已自动生成">
            <a:extLst>
              <a:ext uri="{FF2B5EF4-FFF2-40B4-BE49-F238E27FC236}">
                <a16:creationId xmlns:a16="http://schemas.microsoft.com/office/drawing/2014/main" id="{2E7A034B-0967-E7CC-5AF2-6C096640A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63" y="1275344"/>
            <a:ext cx="10595264" cy="534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8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0235E87-9F11-82C1-0DD4-32AA40DB2C3B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6240C44-7FC2-BA0D-7DC6-0E9A20E5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57DDA1C-DF00-68C9-46D4-58D1B7762A5D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第二步：数据标注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Step 2: Data Annotation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6" name="图片 5" descr="图形用户界面&#10;&#10;描述已自动生成">
            <a:extLst>
              <a:ext uri="{FF2B5EF4-FFF2-40B4-BE49-F238E27FC236}">
                <a16:creationId xmlns:a16="http://schemas.microsoft.com/office/drawing/2014/main" id="{3BD894D9-D401-CC3E-A9F7-57A25173F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18" y="1302743"/>
            <a:ext cx="10595264" cy="533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2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E1367F2-0CE7-4DCE-82BA-8D3BB1B08738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2B09851-854E-BF48-BF5C-AB2C34C26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DC60533-D359-2CB5-1788-93AD3E437107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第三步：模型训练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Step 3: Model Training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6" name="图片 5" descr="图形用户界面, 电子邮件&#10;&#10;描述已自动生成">
            <a:extLst>
              <a:ext uri="{FF2B5EF4-FFF2-40B4-BE49-F238E27FC236}">
                <a16:creationId xmlns:a16="http://schemas.microsoft.com/office/drawing/2014/main" id="{B251E2BC-B65F-BDF8-095C-4F1DF57BA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68" y="1273849"/>
            <a:ext cx="10886787" cy="53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7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9DEFE29-5B6B-8DE1-28D6-EC59310C3935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287952E-1495-E129-8136-418B1DE9C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6FF3A55-6C0A-26EE-49B7-AD0F4B00BC31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芯片检测结果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Chip detection results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5B3DDD8-16CE-339D-38AA-BD8707A07CD3}"/>
              </a:ext>
            </a:extLst>
          </p:cNvPr>
          <p:cNvGrpSpPr/>
          <p:nvPr/>
        </p:nvGrpSpPr>
        <p:grpSpPr>
          <a:xfrm>
            <a:off x="645391" y="1738725"/>
            <a:ext cx="5025737" cy="4496151"/>
            <a:chOff x="645391" y="1738725"/>
            <a:chExt cx="5025737" cy="4496151"/>
          </a:xfrm>
        </p:grpSpPr>
        <p:pic>
          <p:nvPicPr>
            <p:cNvPr id="3" name="图片 2" descr="图标&#10;&#10;描述已自动生成">
              <a:extLst>
                <a:ext uri="{FF2B5EF4-FFF2-40B4-BE49-F238E27FC236}">
                  <a16:creationId xmlns:a16="http://schemas.microsoft.com/office/drawing/2014/main" id="{8163A0C7-E267-CEBA-6E48-9022EC243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391" y="1738725"/>
              <a:ext cx="5025737" cy="3917118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4BCB61C-CC31-4ADA-7821-0350B19D5055}"/>
                </a:ext>
              </a:extLst>
            </p:cNvPr>
            <p:cNvSpPr txBox="1"/>
            <p:nvPr/>
          </p:nvSpPr>
          <p:spPr>
            <a:xfrm>
              <a:off x="2115265" y="5834766"/>
              <a:ext cx="20859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Original image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右箭头 12">
            <a:extLst>
              <a:ext uri="{FF2B5EF4-FFF2-40B4-BE49-F238E27FC236}">
                <a16:creationId xmlns:a16="http://schemas.microsoft.com/office/drawing/2014/main" id="{8B05285B-23D5-8C5F-55A8-FD6ACEE429C4}"/>
              </a:ext>
            </a:extLst>
          </p:cNvPr>
          <p:cNvSpPr/>
          <p:nvPr/>
        </p:nvSpPr>
        <p:spPr>
          <a:xfrm>
            <a:off x="5971933" y="3444332"/>
            <a:ext cx="652613" cy="505904"/>
          </a:xfrm>
          <a:prstGeom prst="rightArrow">
            <a:avLst/>
          </a:prstGeom>
          <a:solidFill>
            <a:srgbClr val="43AB54"/>
          </a:solidFill>
          <a:ln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D483B37-DFD8-A83C-611B-16324C4437B8}"/>
              </a:ext>
            </a:extLst>
          </p:cNvPr>
          <p:cNvGrpSpPr/>
          <p:nvPr/>
        </p:nvGrpSpPr>
        <p:grpSpPr>
          <a:xfrm>
            <a:off x="6839002" y="1734451"/>
            <a:ext cx="4677617" cy="4501137"/>
            <a:chOff x="6839002" y="1734451"/>
            <a:chExt cx="4677617" cy="4501137"/>
          </a:xfrm>
        </p:grpSpPr>
        <p:pic>
          <p:nvPicPr>
            <p:cNvPr id="10" name="图片 9" descr="蓝色的标志&#10;&#10;描述已自动生成">
              <a:extLst>
                <a:ext uri="{FF2B5EF4-FFF2-40B4-BE49-F238E27FC236}">
                  <a16:creationId xmlns:a16="http://schemas.microsoft.com/office/drawing/2014/main" id="{16633957-B89B-492D-4110-E310DB00B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9002" y="1734451"/>
              <a:ext cx="4677617" cy="3921392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3DAFC01-B858-0772-6817-ABAFA378A7DC}"/>
                </a:ext>
              </a:extLst>
            </p:cNvPr>
            <p:cNvSpPr txBox="1"/>
            <p:nvPr/>
          </p:nvSpPr>
          <p:spPr>
            <a:xfrm>
              <a:off x="8017436" y="5835478"/>
              <a:ext cx="23207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Detected Image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497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D0CC4F-70E4-1FC6-3122-8CBFEAB20834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5B20A74-01F0-F4CC-804D-DA2B0C8DE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9F52A82-790C-A84F-DF7C-DA0BC86757FB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New Model Training Task (Following the Example) : 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Screw Size Detection 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2F502C-CDAF-3632-88B6-F6E103329878}"/>
              </a:ext>
            </a:extLst>
          </p:cNvPr>
          <p:cNvGrpSpPr/>
          <p:nvPr/>
        </p:nvGrpSpPr>
        <p:grpSpPr>
          <a:xfrm>
            <a:off x="726787" y="1583553"/>
            <a:ext cx="5110018" cy="4979076"/>
            <a:chOff x="726787" y="1583553"/>
            <a:chExt cx="5110018" cy="497907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C00C57DE-186F-2E64-87BB-2616097DB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787" y="1583553"/>
              <a:ext cx="5110018" cy="4374763"/>
            </a:xfrm>
            <a:prstGeom prst="rect">
              <a:avLst/>
            </a:prstGeom>
            <a:ln w="57150">
              <a:solidFill>
                <a:srgbClr val="FF0000"/>
              </a:solidFill>
            </a:ln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D3C0875-847B-3654-AF95-4DCB5D19622B}"/>
                </a:ext>
              </a:extLst>
            </p:cNvPr>
            <p:cNvSpPr txBox="1"/>
            <p:nvPr/>
          </p:nvSpPr>
          <p:spPr>
            <a:xfrm>
              <a:off x="2238802" y="6162519"/>
              <a:ext cx="20859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Original image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右箭头 12">
            <a:extLst>
              <a:ext uri="{FF2B5EF4-FFF2-40B4-BE49-F238E27FC236}">
                <a16:creationId xmlns:a16="http://schemas.microsoft.com/office/drawing/2014/main" id="{E41133B6-1A6D-F00F-4ACF-0905269B3A3E}"/>
              </a:ext>
            </a:extLst>
          </p:cNvPr>
          <p:cNvSpPr/>
          <p:nvPr/>
        </p:nvSpPr>
        <p:spPr>
          <a:xfrm>
            <a:off x="6028890" y="3429000"/>
            <a:ext cx="652613" cy="505904"/>
          </a:xfrm>
          <a:prstGeom prst="rightArrow">
            <a:avLst/>
          </a:prstGeom>
          <a:solidFill>
            <a:srgbClr val="43AB54"/>
          </a:solidFill>
          <a:ln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9B33AA0-A03E-3CF3-C467-A3A3966767C0}"/>
              </a:ext>
            </a:extLst>
          </p:cNvPr>
          <p:cNvGrpSpPr/>
          <p:nvPr/>
        </p:nvGrpSpPr>
        <p:grpSpPr>
          <a:xfrm>
            <a:off x="6876922" y="1578607"/>
            <a:ext cx="4751660" cy="4984022"/>
            <a:chOff x="6876922" y="1578607"/>
            <a:chExt cx="4751660" cy="4984022"/>
          </a:xfrm>
        </p:grpSpPr>
        <p:pic>
          <p:nvPicPr>
            <p:cNvPr id="9" name="图片 8" descr="图片包含 脸, 桌子, 关, 屏幕&#10;&#10;描述已自动生成">
              <a:extLst>
                <a:ext uri="{FF2B5EF4-FFF2-40B4-BE49-F238E27FC236}">
                  <a16:creationId xmlns:a16="http://schemas.microsoft.com/office/drawing/2014/main" id="{90B4FEF8-1AAC-DB17-4A3D-E514FEC91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6922" y="1578607"/>
              <a:ext cx="4751660" cy="4379709"/>
            </a:xfrm>
            <a:prstGeom prst="rect">
              <a:avLst/>
            </a:prstGeom>
            <a:ln w="57150">
              <a:solidFill>
                <a:srgbClr val="FF0000"/>
              </a:solidFill>
            </a:ln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BC536FF-25F3-56C4-6560-8C90B712AACB}"/>
                </a:ext>
              </a:extLst>
            </p:cNvPr>
            <p:cNvSpPr txBox="1"/>
            <p:nvPr/>
          </p:nvSpPr>
          <p:spPr>
            <a:xfrm>
              <a:off x="8092378" y="6162519"/>
              <a:ext cx="23207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Detected Image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6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99152D5-4A28-B9D0-2810-325D6A2CFA8C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7CC5A65-F75B-F4AA-B2C8-3D592EE9E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66E5B53-ABB4-2053-E490-6B777C7A0DE7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第一步：数据采集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Step 1: Data Collection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7" name="图片 6" descr="图形用户界面, 应用程序&#10;&#10;描述已自动生成">
            <a:extLst>
              <a:ext uri="{FF2B5EF4-FFF2-40B4-BE49-F238E27FC236}">
                <a16:creationId xmlns:a16="http://schemas.microsoft.com/office/drawing/2014/main" id="{EDB74C07-4664-E098-5881-90515B492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68" y="1285879"/>
            <a:ext cx="10362045" cy="541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13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0235E87-9F11-82C1-0DD4-32AA40DB2C3B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6240C44-7FC2-BA0D-7DC6-0E9A20E5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57DDA1C-DF00-68C9-46D4-58D1B7762A5D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第二步：数据标注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Step 2: Data Annotation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7" name="图片 6" descr="图形用户界面&#10;&#10;中度可信度描述已自动生成">
            <a:extLst>
              <a:ext uri="{FF2B5EF4-FFF2-40B4-BE49-F238E27FC236}">
                <a16:creationId xmlns:a16="http://schemas.microsoft.com/office/drawing/2014/main" id="{BD2C32D3-E61B-CD68-EB12-24BA706B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67" y="1285042"/>
            <a:ext cx="10581987" cy="538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90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E1367F2-0CE7-4DCE-82BA-8D3BB1B08738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2B09851-854E-BF48-BF5C-AB2C34C26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DC60533-D359-2CB5-1788-93AD3E437107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第三步：模型训练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Step 3: Model Training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7" name="图片 6" descr="电脑屏幕的手机截图&#10;&#10;描述已自动生成">
            <a:extLst>
              <a:ext uri="{FF2B5EF4-FFF2-40B4-BE49-F238E27FC236}">
                <a16:creationId xmlns:a16="http://schemas.microsoft.com/office/drawing/2014/main" id="{C6098B42-9197-25AB-BCCA-CD43A8FAD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68" y="1296324"/>
            <a:ext cx="11019396" cy="530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4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9DEFE29-5B6B-8DE1-28D6-EC59310C3935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287952E-1495-E129-8136-418B1DE9C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6FF3A55-6C0A-26EE-49B7-AD0F4B00BC31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螺丝尺寸检测结果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Screw size detection results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5FB05F0-8883-1801-B266-E0520AB740FC}"/>
              </a:ext>
            </a:extLst>
          </p:cNvPr>
          <p:cNvGrpSpPr/>
          <p:nvPr/>
        </p:nvGrpSpPr>
        <p:grpSpPr>
          <a:xfrm>
            <a:off x="726787" y="1583553"/>
            <a:ext cx="5110018" cy="4979076"/>
            <a:chOff x="726787" y="1583553"/>
            <a:chExt cx="5110018" cy="497907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585FFD0-6815-E58B-9EF7-9E38CD8CA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787" y="1583553"/>
              <a:ext cx="5110018" cy="4374763"/>
            </a:xfrm>
            <a:prstGeom prst="rect">
              <a:avLst/>
            </a:prstGeom>
            <a:ln w="57150">
              <a:solidFill>
                <a:srgbClr val="FF0000"/>
              </a:solidFill>
            </a:ln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6B4E6AA-0B4B-9B46-A6C6-1D5ED8359CDE}"/>
                </a:ext>
              </a:extLst>
            </p:cNvPr>
            <p:cNvSpPr txBox="1"/>
            <p:nvPr/>
          </p:nvSpPr>
          <p:spPr>
            <a:xfrm>
              <a:off x="2238802" y="6162519"/>
              <a:ext cx="20859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Original image</a:t>
              </a:r>
              <a:endPara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右箭头 12">
            <a:extLst>
              <a:ext uri="{FF2B5EF4-FFF2-40B4-BE49-F238E27FC236}">
                <a16:creationId xmlns:a16="http://schemas.microsoft.com/office/drawing/2014/main" id="{245D0DEC-14DE-C745-4AD0-3D1DB459D84B}"/>
              </a:ext>
            </a:extLst>
          </p:cNvPr>
          <p:cNvSpPr/>
          <p:nvPr/>
        </p:nvSpPr>
        <p:spPr>
          <a:xfrm>
            <a:off x="6028890" y="3429000"/>
            <a:ext cx="652613" cy="505904"/>
          </a:xfrm>
          <a:prstGeom prst="rightArrow">
            <a:avLst/>
          </a:prstGeom>
          <a:solidFill>
            <a:srgbClr val="43AB54"/>
          </a:solidFill>
          <a:ln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E1388DB-551F-48FA-16F5-B09D4B4261F7}"/>
              </a:ext>
            </a:extLst>
          </p:cNvPr>
          <p:cNvGrpSpPr/>
          <p:nvPr/>
        </p:nvGrpSpPr>
        <p:grpSpPr>
          <a:xfrm>
            <a:off x="6876922" y="1578607"/>
            <a:ext cx="4751660" cy="4984022"/>
            <a:chOff x="6876922" y="1578607"/>
            <a:chExt cx="4751660" cy="4984022"/>
          </a:xfrm>
        </p:grpSpPr>
        <p:pic>
          <p:nvPicPr>
            <p:cNvPr id="17" name="图片 16" descr="图片包含 脸, 桌子, 关, 屏幕&#10;&#10;描述已自动生成">
              <a:extLst>
                <a:ext uri="{FF2B5EF4-FFF2-40B4-BE49-F238E27FC236}">
                  <a16:creationId xmlns:a16="http://schemas.microsoft.com/office/drawing/2014/main" id="{9D852FE3-07B9-0F49-853A-E52A371FA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6922" y="1578607"/>
              <a:ext cx="4751660" cy="4379709"/>
            </a:xfrm>
            <a:prstGeom prst="rect">
              <a:avLst/>
            </a:prstGeom>
            <a:ln w="57150">
              <a:solidFill>
                <a:srgbClr val="FF0000"/>
              </a:solidFill>
            </a:ln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8CE0890-97B1-870E-C169-E113BB176B7D}"/>
                </a:ext>
              </a:extLst>
            </p:cNvPr>
            <p:cNvSpPr txBox="1"/>
            <p:nvPr/>
          </p:nvSpPr>
          <p:spPr>
            <a:xfrm>
              <a:off x="8092378" y="6162519"/>
              <a:ext cx="23207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Detected Image</a:t>
              </a:r>
              <a:endPara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616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93AEEDB-1D82-F6BF-6FAF-038D94BE3565}"/>
              </a:ext>
            </a:extLst>
          </p:cNvPr>
          <p:cNvGrpSpPr/>
          <p:nvPr/>
        </p:nvGrpSpPr>
        <p:grpSpPr>
          <a:xfrm>
            <a:off x="487218" y="823179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264EEA9-31BC-78A7-E5B6-AAF675EDB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305D2AE-8CED-7C71-9AC6-F19C67DD58C2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第四步：模型测试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Step 4: Model Testing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6E626BD-D6A9-FBF7-45F7-E481F8E48FD4}"/>
              </a:ext>
            </a:extLst>
          </p:cNvPr>
          <p:cNvSpPr txBox="1"/>
          <p:nvPr/>
        </p:nvSpPr>
        <p:spPr>
          <a:xfrm>
            <a:off x="1699627" y="2644170"/>
            <a:ext cx="90976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Coming soon</a:t>
            </a:r>
            <a:endParaRPr lang="zh-CN" altLang="en-US" sz="9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171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567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heme/theme1.xml><?xml version="1.0" encoding="utf-8"?>
<a:theme xmlns:a="http://schemas.openxmlformats.org/drawingml/2006/main" name="课件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8489</TotalTime>
  <Words>148</Words>
  <Application>Microsoft Office PowerPoint</Application>
  <PresentationFormat>宽屏</PresentationFormat>
  <Paragraphs>29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微软雅黑</vt:lpstr>
      <vt:lpstr>Arial</vt:lpstr>
      <vt:lpstr>课件主题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昌乐 余</dc:creator>
  <cp:lastModifiedBy>昌乐 余</cp:lastModifiedBy>
  <cp:revision>2545</cp:revision>
  <dcterms:created xsi:type="dcterms:W3CDTF">2025-06-28T12:32:25Z</dcterms:created>
  <dcterms:modified xsi:type="dcterms:W3CDTF">2026-06-28T13:20:30Z</dcterms:modified>
</cp:coreProperties>
</file>