
<file path=[Content_Types].xml><?xml version="1.0" encoding="utf-8"?>
<Types xmlns="http://schemas.openxmlformats.org/package/2006/content-types">
  <Default Extension="jpeg" ContentType="image/jpeg"/>
  <Default Extension="jpg" ContentType="image/pn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media/image32.jpg" ContentType="image/jpeg"/>
  <Override PartName="/ppt/media/image33.jpg" ContentType="image/jpeg"/>
  <Override PartName="/ppt/media/image34.jpg" ContentType="image/jpeg"/>
  <Override PartName="/ppt/media/image35.jpg" ContentType="image/jpeg"/>
  <Override PartName="/ppt/media/image36.jpg" ContentType="image/jpeg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sldIdLst>
    <p:sldId id="256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70" r:id="rId12"/>
    <p:sldId id="271" r:id="rId13"/>
    <p:sldId id="272" r:id="rId14"/>
    <p:sldId id="278" r:id="rId15"/>
    <p:sldId id="273" r:id="rId16"/>
    <p:sldId id="274" r:id="rId17"/>
    <p:sldId id="277" r:id="rId18"/>
    <p:sldId id="275" r:id="rId19"/>
    <p:sldId id="297" r:id="rId20"/>
    <p:sldId id="276" r:id="rId21"/>
    <p:sldId id="279" r:id="rId22"/>
    <p:sldId id="280" r:id="rId23"/>
    <p:sldId id="293" r:id="rId24"/>
    <p:sldId id="298" r:id="rId25"/>
    <p:sldId id="299" r:id="rId26"/>
    <p:sldId id="300" r:id="rId27"/>
    <p:sldId id="281" r:id="rId28"/>
    <p:sldId id="282" r:id="rId29"/>
    <p:sldId id="284" r:id="rId30"/>
    <p:sldId id="285" r:id="rId31"/>
    <p:sldId id="286" r:id="rId32"/>
    <p:sldId id="287" r:id="rId33"/>
    <p:sldId id="288" r:id="rId34"/>
    <p:sldId id="289" r:id="rId35"/>
    <p:sldId id="259" r:id="rId3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152A0"/>
    <a:srgbClr val="E2801E"/>
    <a:srgbClr val="E25535"/>
    <a:srgbClr val="D94F33"/>
    <a:srgbClr val="43AB54"/>
    <a:srgbClr val="101FFF"/>
    <a:srgbClr val="FE0000"/>
    <a:srgbClr val="7679F0"/>
    <a:srgbClr val="D5998E"/>
    <a:srgbClr val="D4237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094" autoAdjust="0"/>
  </p:normalViewPr>
  <p:slideViewPr>
    <p:cSldViewPr snapToGrid="0">
      <p:cViewPr varScale="1">
        <p:scale>
          <a:sx n="104" d="100"/>
          <a:sy n="104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65ADD3-8E9D-4FD2-A8BC-85CF433C07BA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49BC79-0DD5-41F6-A591-E6BEFB3A684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17198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49BC79-0DD5-41F6-A591-E6BEFB3A684A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40438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49BC79-0DD5-41F6-A591-E6BEFB3A684A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13980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49BC79-0DD5-41F6-A591-E6BEFB3A684A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77122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0C89AA-A222-85C7-A154-4BD57D18F3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63125FE-4ED2-CDD5-01AE-5AB166699E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5112DC2-EE21-7BA5-E86C-A9D5D9C974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DDF9700-449E-C804-ADEE-7E2402F861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49BC79-0DD5-41F6-A591-E6BEFB3A684A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00651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7BE252-EF0C-A35F-A3D8-F53A19CE7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F144531-27C3-F738-EE1A-675EC31CB7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F9C09A5-A69F-729B-60FF-619DC3395D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BC51AB9-BDB2-D968-28EB-2EB905FEF8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49BC79-0DD5-41F6-A591-E6BEFB3A684A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11505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EA6D7D-5357-4549-DF13-0FF381637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CDABBE9-0CA1-465A-1CBE-503707E1EC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51B87D0-DF3C-014F-E46E-DD72499FFF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4F76674-0484-02A6-CAEF-6D4BBE7948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49BC79-0DD5-41F6-A591-E6BEFB3A684A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13467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58A97A-F18D-75BE-2DA1-D2975506C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FF52529-784A-B9E4-A8C9-03977F7AC7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6C37C0B-B223-AD5B-6C01-B4E7BE0F71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5A67794-4906-472B-28CE-94919172A6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49BC79-0DD5-41F6-A591-E6BEFB3A684A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04664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373338-FB90-3405-06D5-29C3872E0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1AF5245-C6D0-4311-87D6-8885600CAD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B35BA04-49DF-1937-BE42-2D207F4C6C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379999E-AE9D-0B93-D7D0-270E217473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49BC79-0DD5-41F6-A591-E6BEFB3A684A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38875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9904BE-9184-AED5-F0B6-5DE2BC2A3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862BCD5-8808-DB0B-C9F9-A8D01B1AB5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F82CAE3-03AD-07D5-A887-D01AA3C002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B88C1CB-939B-874E-601E-EBBCB087CF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49BC79-0DD5-41F6-A591-E6BEFB3A684A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74512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9904BE-9184-AED5-F0B6-5DE2BC2A3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862BCD5-8808-DB0B-C9F9-A8D01B1AB5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F82CAE3-03AD-07D5-A887-D01AA3C002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B88C1CB-939B-874E-601E-EBBCB087CF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49BC79-0DD5-41F6-A591-E6BEFB3A684A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28862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D7B010-2450-E1F5-5EA9-8DB71E7D4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042A937-A6FA-716E-0674-2D45FB10F0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56BFEFD-D166-E8E8-7627-3E812EC0D5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2B554DF-00DE-1766-5969-7485D5433C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49BC79-0DD5-41F6-A591-E6BEFB3A684A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06672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7EA18C-E004-2DD9-E2D7-BF6E3A6A9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BDBA50B-7A82-AECD-7C00-F1F0F13127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9815146-A4BD-859B-4274-958AB5FDC2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47E7F83-BBDB-AFC1-A12D-0C563C3690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49BC79-0DD5-41F6-A591-E6BEFB3A684A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09547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E11194-4B56-491D-5CB3-2B1F2D3A2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584E35A-EB03-28F9-238F-D9685604D2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F96D06B-A551-915B-4576-0AEA082D72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2920F1F-6E6D-1A93-8F53-7ADDE6759E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49BC79-0DD5-41F6-A591-E6BEFB3A684A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730932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EA6D7D-5357-4549-DF13-0FF381637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CDABBE9-0CA1-465A-1CBE-503707E1EC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51B87D0-DF3C-014F-E46E-DD72499FFF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4F76674-0484-02A6-CAEF-6D4BBE7948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49BC79-0DD5-41F6-A591-E6BEFB3A684A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12528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EA6D7D-5357-4549-DF13-0FF381637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CDABBE9-0CA1-465A-1CBE-503707E1EC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51B87D0-DF3C-014F-E46E-DD72499FFF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4F76674-0484-02A6-CAEF-6D4BBE7948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49BC79-0DD5-41F6-A591-E6BEFB3A684A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276006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EA6D7D-5357-4549-DF13-0FF381637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CDABBE9-0CA1-465A-1CBE-503707E1EC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51B87D0-DF3C-014F-E46E-DD72499FFF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4F76674-0484-02A6-CAEF-6D4BBE7948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49BC79-0DD5-41F6-A591-E6BEFB3A684A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526771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EA6D7D-5357-4549-DF13-0FF381637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CDABBE9-0CA1-465A-1CBE-503707E1EC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51B87D0-DF3C-014F-E46E-DD72499FFF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4F76674-0484-02A6-CAEF-6D4BBE7948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49BC79-0DD5-41F6-A591-E6BEFB3A684A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12767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7" Type="http://schemas.openxmlformats.org/officeDocument/2006/relationships/image" Target="../media/image3.pn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2.pn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8.xml"/><Relationship Id="rId7" Type="http://schemas.openxmlformats.org/officeDocument/2006/relationships/image" Target="../media/image2.png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0.xml"/><Relationship Id="rId4" Type="http://schemas.openxmlformats.org/officeDocument/2006/relationships/tags" Target="../tags/tag9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7" Type="http://schemas.openxmlformats.org/officeDocument/2006/relationships/image" Target="../media/image2.png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5.xml"/><Relationship Id="rId4" Type="http://schemas.openxmlformats.org/officeDocument/2006/relationships/tags" Target="../tags/tag14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18.xml"/><Relationship Id="rId7" Type="http://schemas.openxmlformats.org/officeDocument/2006/relationships/image" Target="../media/image2.png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0.xml"/><Relationship Id="rId4" Type="http://schemas.openxmlformats.org/officeDocument/2006/relationships/tags" Target="../tags/tag19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tags" Target="../tags/tag23.xml"/><Relationship Id="rId7" Type="http://schemas.openxmlformats.org/officeDocument/2006/relationships/image" Target="../media/image2.png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5.xml"/><Relationship Id="rId4" Type="http://schemas.openxmlformats.org/officeDocument/2006/relationships/tags" Target="../tags/tag24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28.xml"/><Relationship Id="rId7" Type="http://schemas.openxmlformats.org/officeDocument/2006/relationships/image" Target="../media/image2.png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30.xml"/><Relationship Id="rId4" Type="http://schemas.openxmlformats.org/officeDocument/2006/relationships/tags" Target="../tags/tag29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33.xml"/><Relationship Id="rId7" Type="http://schemas.openxmlformats.org/officeDocument/2006/relationships/image" Target="../media/image2.png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35.xml"/><Relationship Id="rId4" Type="http://schemas.openxmlformats.org/officeDocument/2006/relationships/tags" Target="../tags/tag34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6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7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8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9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0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68C9782E-F456-39E4-B5F0-0223E8B65D7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94" y="68216"/>
            <a:ext cx="2816007" cy="544782"/>
          </a:xfrm>
          <a:prstGeom prst="rect">
            <a:avLst/>
          </a:prstGeom>
        </p:spPr>
      </p:pic>
      <p:pic>
        <p:nvPicPr>
          <p:cNvPr id="5" name="图片 4" descr="/Users/imac/Library/Containers/com.kingsoft.wpsoffice.mac/Data/tmp/picturecompress_20241213185745/output_1.pngoutput_1">
            <a:extLst>
              <a:ext uri="{FF2B5EF4-FFF2-40B4-BE49-F238E27FC236}">
                <a16:creationId xmlns:a16="http://schemas.microsoft.com/office/drawing/2014/main" id="{C2CE6312-FFC8-8AA0-6AD5-D7BABCE5C3B9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2268456" y="4876307"/>
            <a:ext cx="7654446" cy="1886443"/>
          </a:xfrm>
          <a:prstGeom prst="rect">
            <a:avLst/>
          </a:prstGeom>
        </p:spPr>
      </p:pic>
      <p:grpSp>
        <p:nvGrpSpPr>
          <p:cNvPr id="9" name="组合 8">
            <a:extLst>
              <a:ext uri="{FF2B5EF4-FFF2-40B4-BE49-F238E27FC236}">
                <a16:creationId xmlns:a16="http://schemas.microsoft.com/office/drawing/2014/main" id="{09AC634D-9175-BA03-7B47-2859FD71FB20}"/>
              </a:ext>
            </a:extLst>
          </p:cNvPr>
          <p:cNvGrpSpPr/>
          <p:nvPr userDrawn="1"/>
        </p:nvGrpSpPr>
        <p:grpSpPr>
          <a:xfrm>
            <a:off x="2383771" y="1685980"/>
            <a:ext cx="7422515" cy="1365111"/>
            <a:chOff x="2383771" y="1685980"/>
            <a:chExt cx="7422515" cy="1365111"/>
          </a:xfrm>
        </p:grpSpPr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7A7CFE06-73FC-8599-2883-FD9F6954653C}"/>
                </a:ext>
              </a:extLst>
            </p:cNvPr>
            <p:cNvSpPr txBox="1"/>
            <p:nvPr userDrawn="1">
              <p:custDataLst>
                <p:tags r:id="rId3"/>
              </p:custDataLst>
            </p:nvPr>
          </p:nvSpPr>
          <p:spPr>
            <a:xfrm>
              <a:off x="2700640" y="1685980"/>
              <a:ext cx="6788785" cy="707886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zh-CN" altLang="en-US" sz="4000" b="1" dirty="0">
                  <a:solidFill>
                    <a:srgbClr val="2152A0"/>
                  </a:solidFill>
                  <a:latin typeface="微软雅黑" panose="020B0503020204020204" charset="-122"/>
                  <a:ea typeface="微软雅黑" panose="020B0503020204020204" charset="-122"/>
                </a:rPr>
                <a:t>螺丝尺寸检测应用</a:t>
              </a:r>
              <a:endParaRPr lang="en-US" altLang="zh-CN" sz="4000" b="1" dirty="0">
                <a:solidFill>
                  <a:srgbClr val="2152A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F83C0BF4-A5D9-EBBA-9864-528072F499FB}"/>
                </a:ext>
              </a:extLst>
            </p:cNvPr>
            <p:cNvSpPr txBox="1"/>
            <p:nvPr userDrawn="1">
              <p:custDataLst>
                <p:tags r:id="rId4"/>
              </p:custDataLst>
            </p:nvPr>
          </p:nvSpPr>
          <p:spPr>
            <a:xfrm>
              <a:off x="2383771" y="2466316"/>
              <a:ext cx="7422515" cy="584775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rgbClr val="2152A0"/>
                  </a:solidFill>
                  <a:latin typeface="微软雅黑" panose="020B0503020204020204" charset="-122"/>
                  <a:ea typeface="微软雅黑" panose="020B0503020204020204" charset="-122"/>
                </a:rPr>
                <a:t>Screw Size Detection Application </a:t>
              </a:r>
              <a:endParaRPr lang="zh-CN" altLang="en-US" sz="3200" b="1" dirty="0">
                <a:solidFill>
                  <a:srgbClr val="2152A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5A61BF40-6E99-A68B-26B4-B94EAABDC752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4159477" y="4247184"/>
            <a:ext cx="3871105" cy="369332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/>
            <a:r>
              <a:rPr lang="zh-CN" altLang="en-US" sz="1800" b="1" dirty="0">
                <a:solidFill>
                  <a:srgbClr val="2152A0"/>
                </a:solidFill>
                <a:latin typeface="微软雅黑" panose="020B0503020204020204" charset="-122"/>
                <a:ea typeface="微软雅黑" panose="020B0503020204020204" charset="-122"/>
              </a:rPr>
              <a:t>余昌乐</a:t>
            </a:r>
            <a:r>
              <a:rPr lang="en-US" altLang="zh-CN" sz="1800" b="1" dirty="0">
                <a:solidFill>
                  <a:srgbClr val="2152A0"/>
                </a:solidFill>
                <a:latin typeface="微软雅黑" panose="020B0503020204020204" charset="-122"/>
                <a:ea typeface="微软雅黑" panose="020B0503020204020204" charset="-122"/>
              </a:rPr>
              <a:t>	   Yu </a:t>
            </a:r>
            <a:r>
              <a:rPr lang="en-US" altLang="zh-CN" sz="1800" b="1" dirty="0" err="1">
                <a:solidFill>
                  <a:srgbClr val="2152A0"/>
                </a:solidFill>
                <a:latin typeface="微软雅黑" panose="020B0503020204020204" charset="-122"/>
                <a:ea typeface="微软雅黑" panose="020B0503020204020204" charset="-122"/>
              </a:rPr>
              <a:t>Changle</a:t>
            </a:r>
            <a:r>
              <a:rPr lang="en-US" altLang="zh-CN" sz="1800" b="1" dirty="0">
                <a:solidFill>
                  <a:srgbClr val="2152A0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endParaRPr lang="zh-CN" altLang="en-US" sz="1800" b="1" dirty="0">
              <a:solidFill>
                <a:srgbClr val="2152A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832112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F3B80C9-0205-D01D-695C-E89B6304948A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94" y="68216"/>
            <a:ext cx="2816007" cy="544782"/>
          </a:xfrm>
          <a:prstGeom prst="rect">
            <a:avLst/>
          </a:prstGeom>
        </p:spPr>
      </p:pic>
      <p:grpSp>
        <p:nvGrpSpPr>
          <p:cNvPr id="4" name="组合 3">
            <a:extLst>
              <a:ext uri="{FF2B5EF4-FFF2-40B4-BE49-F238E27FC236}">
                <a16:creationId xmlns:a16="http://schemas.microsoft.com/office/drawing/2014/main" id="{8E56F764-3F73-18D3-2FEC-EE06C6AEE721}"/>
              </a:ext>
            </a:extLst>
          </p:cNvPr>
          <p:cNvGrpSpPr/>
          <p:nvPr userDrawn="1"/>
        </p:nvGrpSpPr>
        <p:grpSpPr>
          <a:xfrm>
            <a:off x="899246" y="2876550"/>
            <a:ext cx="1758315" cy="1104900"/>
            <a:chOff x="2611" y="3339"/>
            <a:chExt cx="2769" cy="1740"/>
          </a:xfrm>
        </p:grpSpPr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D43AE2E8-6108-9E57-1465-7F6926AE08B5}"/>
                </a:ext>
              </a:extLst>
            </p:cNvPr>
            <p:cNvSpPr txBox="1"/>
            <p:nvPr/>
          </p:nvSpPr>
          <p:spPr>
            <a:xfrm>
              <a:off x="2611" y="3339"/>
              <a:ext cx="2769" cy="82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zh-CN" altLang="en-US" sz="4000" b="1" dirty="0">
                  <a:solidFill>
                    <a:srgbClr val="2152A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目</a:t>
              </a:r>
              <a:r>
                <a:rPr lang="en-US" altLang="zh-CN" sz="4000" b="1" dirty="0">
                  <a:solidFill>
                    <a:srgbClr val="2152A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 </a:t>
              </a:r>
              <a:r>
                <a:rPr lang="zh-CN" altLang="en-US" sz="4000" b="1" dirty="0">
                  <a:solidFill>
                    <a:srgbClr val="2152A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录</a:t>
              </a:r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4D1BDEFB-5A73-047D-CC8C-BF4FB1E42846}"/>
                </a:ext>
              </a:extLst>
            </p:cNvPr>
            <p:cNvSpPr txBox="1"/>
            <p:nvPr/>
          </p:nvSpPr>
          <p:spPr>
            <a:xfrm>
              <a:off x="2781" y="4257"/>
              <a:ext cx="2429" cy="82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sz="2400" b="1" dirty="0">
                  <a:solidFill>
                    <a:srgbClr val="2152A0"/>
                  </a:solidFill>
                  <a:latin typeface="微软雅黑" panose="020B0503020204020204" charset="-122"/>
                  <a:ea typeface="微软雅黑" panose="020B0503020204020204" charset="-122"/>
                  <a:cs typeface="Lato Medium" panose="020F0502020204030203" charset="0"/>
                </a:rPr>
                <a:t>contents</a:t>
              </a: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AEF15116-90B7-8067-5DC0-959A059F56A0}"/>
              </a:ext>
            </a:extLst>
          </p:cNvPr>
          <p:cNvGrpSpPr/>
          <p:nvPr userDrawn="1"/>
        </p:nvGrpSpPr>
        <p:grpSpPr>
          <a:xfrm>
            <a:off x="3826472" y="1324255"/>
            <a:ext cx="7358332" cy="4270449"/>
            <a:chOff x="3780911" y="1504791"/>
            <a:chExt cx="7358332" cy="4270449"/>
          </a:xfrm>
        </p:grpSpPr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25EDB7D5-2D8B-BF39-8949-84CE00CB93CF}"/>
                </a:ext>
              </a:extLst>
            </p:cNvPr>
            <p:cNvSpPr txBox="1"/>
            <p:nvPr>
              <p:custDataLst>
                <p:tags r:id="rId1"/>
              </p:custDataLst>
            </p:nvPr>
          </p:nvSpPr>
          <p:spPr>
            <a:xfrm>
              <a:off x="3780911" y="1504791"/>
              <a:ext cx="6443933" cy="541547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l"/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01 </a:t>
              </a:r>
              <a:r>
                <a:rPr lang="zh-CN" altLang="en-US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模型训练回顾 </a:t>
              </a:r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| Model Training Review</a:t>
              </a:r>
              <a:endParaRPr lang="zh-CN" altLang="en-US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97489CF1-9108-513C-1794-17D547ED5C35}"/>
                </a:ext>
              </a:extLst>
            </p:cNvPr>
            <p:cNvSpPr txBox="1"/>
            <p:nvPr>
              <p:custDataLst>
                <p:tags r:id="rId2"/>
              </p:custDataLst>
            </p:nvPr>
          </p:nvSpPr>
          <p:spPr>
            <a:xfrm>
              <a:off x="3780911" y="2437017"/>
              <a:ext cx="7358332" cy="541547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l"/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02 </a:t>
              </a:r>
              <a:r>
                <a:rPr lang="zh-CN" altLang="en-US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模型效果分析 </a:t>
              </a:r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| Model Performance Analysis</a:t>
              </a:r>
              <a:endParaRPr lang="zh-CN" altLang="en-US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6846951E-1348-E2AB-8396-73AEEC70DEEB}"/>
                </a:ext>
              </a:extLst>
            </p:cNvPr>
            <p:cNvSpPr txBox="1"/>
            <p:nvPr userDrawn="1">
              <p:custDataLst>
                <p:tags r:id="rId3"/>
              </p:custDataLst>
            </p:nvPr>
          </p:nvSpPr>
          <p:spPr>
            <a:xfrm>
              <a:off x="3780911" y="4301467"/>
              <a:ext cx="7203057" cy="541547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l"/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04 </a:t>
              </a:r>
              <a:r>
                <a:rPr lang="zh-CN" altLang="en-US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项目应用实现 </a:t>
              </a:r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| Application Implementation</a:t>
              </a: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AB10A1E4-7783-E566-C3FA-239BC63C6DFD}"/>
                </a:ext>
              </a:extLst>
            </p:cNvPr>
            <p:cNvSpPr txBox="1"/>
            <p:nvPr userDrawn="1">
              <p:custDataLst>
                <p:tags r:id="rId4"/>
              </p:custDataLst>
            </p:nvPr>
          </p:nvSpPr>
          <p:spPr>
            <a:xfrm>
              <a:off x="3780911" y="3369242"/>
              <a:ext cx="7358332" cy="541547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l"/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03 </a:t>
              </a:r>
              <a:r>
                <a:rPr lang="zh-CN" altLang="en-US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项目应用简介 </a:t>
              </a:r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| Application Overview</a:t>
              </a:r>
              <a:endParaRPr lang="zh-CN" altLang="en-US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59A4D8E3-FAF8-803A-0C61-ECE3CD3652E8}"/>
                </a:ext>
              </a:extLst>
            </p:cNvPr>
            <p:cNvSpPr txBox="1"/>
            <p:nvPr userDrawn="1">
              <p:custDataLst>
                <p:tags r:id="rId5"/>
              </p:custDataLst>
            </p:nvPr>
          </p:nvSpPr>
          <p:spPr>
            <a:xfrm>
              <a:off x="3780911" y="5233693"/>
              <a:ext cx="7203057" cy="541547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l"/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05 AI &amp; </a:t>
              </a:r>
              <a:r>
                <a:rPr lang="zh-CN" altLang="en-US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计算机视觉 </a:t>
              </a:r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| AI &amp; Computer Vision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348541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F3B80C9-0205-D01D-695C-E89B6304948A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94" y="68216"/>
            <a:ext cx="2816007" cy="544782"/>
          </a:xfrm>
          <a:prstGeom prst="rect">
            <a:avLst/>
          </a:prstGeom>
        </p:spPr>
      </p:pic>
      <p:grpSp>
        <p:nvGrpSpPr>
          <p:cNvPr id="4" name="组合 3">
            <a:extLst>
              <a:ext uri="{FF2B5EF4-FFF2-40B4-BE49-F238E27FC236}">
                <a16:creationId xmlns:a16="http://schemas.microsoft.com/office/drawing/2014/main" id="{8E56F764-3F73-18D3-2FEC-EE06C6AEE721}"/>
              </a:ext>
            </a:extLst>
          </p:cNvPr>
          <p:cNvGrpSpPr/>
          <p:nvPr userDrawn="1"/>
        </p:nvGrpSpPr>
        <p:grpSpPr>
          <a:xfrm>
            <a:off x="899246" y="2876550"/>
            <a:ext cx="1758315" cy="1104900"/>
            <a:chOff x="2611" y="3339"/>
            <a:chExt cx="2769" cy="1740"/>
          </a:xfrm>
        </p:grpSpPr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D43AE2E8-6108-9E57-1465-7F6926AE08B5}"/>
                </a:ext>
              </a:extLst>
            </p:cNvPr>
            <p:cNvSpPr txBox="1"/>
            <p:nvPr/>
          </p:nvSpPr>
          <p:spPr>
            <a:xfrm>
              <a:off x="2611" y="3339"/>
              <a:ext cx="2769" cy="82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zh-CN" altLang="en-US" sz="4000" b="1" dirty="0">
                  <a:solidFill>
                    <a:srgbClr val="2152A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目</a:t>
              </a:r>
              <a:r>
                <a:rPr lang="en-US" altLang="zh-CN" sz="4000" b="1" dirty="0">
                  <a:solidFill>
                    <a:srgbClr val="2152A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 </a:t>
              </a:r>
              <a:r>
                <a:rPr lang="zh-CN" altLang="en-US" sz="4000" b="1" dirty="0">
                  <a:solidFill>
                    <a:srgbClr val="2152A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录</a:t>
              </a:r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4D1BDEFB-5A73-047D-CC8C-BF4FB1E42846}"/>
                </a:ext>
              </a:extLst>
            </p:cNvPr>
            <p:cNvSpPr txBox="1"/>
            <p:nvPr/>
          </p:nvSpPr>
          <p:spPr>
            <a:xfrm>
              <a:off x="2781" y="4257"/>
              <a:ext cx="2429" cy="82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sz="2400" b="1" dirty="0">
                  <a:solidFill>
                    <a:srgbClr val="2152A0"/>
                  </a:solidFill>
                  <a:latin typeface="微软雅黑" panose="020B0503020204020204" charset="-122"/>
                  <a:ea typeface="微软雅黑" panose="020B0503020204020204" charset="-122"/>
                  <a:cs typeface="Lato Medium" panose="020F0502020204030203" charset="0"/>
                </a:rPr>
                <a:t>contents</a:t>
              </a: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84C88A70-2537-6D19-7998-EAE6D6AFB9FD}"/>
              </a:ext>
            </a:extLst>
          </p:cNvPr>
          <p:cNvGrpSpPr/>
          <p:nvPr userDrawn="1"/>
        </p:nvGrpSpPr>
        <p:grpSpPr>
          <a:xfrm>
            <a:off x="3826472" y="1324255"/>
            <a:ext cx="7358332" cy="4270449"/>
            <a:chOff x="3780911" y="1504791"/>
            <a:chExt cx="7358332" cy="4270449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E9DF5711-BEC7-0D5F-B990-5A674810041A}"/>
                </a:ext>
              </a:extLst>
            </p:cNvPr>
            <p:cNvSpPr txBox="1"/>
            <p:nvPr>
              <p:custDataLst>
                <p:tags r:id="rId1"/>
              </p:custDataLst>
            </p:nvPr>
          </p:nvSpPr>
          <p:spPr>
            <a:xfrm>
              <a:off x="3780911" y="1504791"/>
              <a:ext cx="6443933" cy="541547"/>
            </a:xfrm>
            <a:prstGeom prst="rect">
              <a:avLst/>
            </a:prstGeom>
            <a:solidFill>
              <a:schemeClr val="accent2"/>
            </a:solidFill>
          </p:spPr>
          <p:txBody>
            <a:bodyPr wrap="square" rtlCol="0" anchor="ctr" anchorCtr="0">
              <a:noAutofit/>
            </a:bodyPr>
            <a:lstStyle/>
            <a:p>
              <a:pPr algn="l"/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01 </a:t>
              </a:r>
              <a:r>
                <a:rPr lang="zh-CN" altLang="en-US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模型训练回顾 </a:t>
              </a:r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| Model Training Review</a:t>
              </a:r>
              <a:endParaRPr lang="zh-CN" altLang="en-US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137462C2-54F2-7028-8482-9CCE3153B1E7}"/>
                </a:ext>
              </a:extLst>
            </p:cNvPr>
            <p:cNvSpPr txBox="1"/>
            <p:nvPr>
              <p:custDataLst>
                <p:tags r:id="rId2"/>
              </p:custDataLst>
            </p:nvPr>
          </p:nvSpPr>
          <p:spPr>
            <a:xfrm>
              <a:off x="3780911" y="2437017"/>
              <a:ext cx="7358332" cy="541547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l"/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02 </a:t>
              </a:r>
              <a:r>
                <a:rPr lang="zh-CN" altLang="en-US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模型效果分析 </a:t>
              </a:r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| Model Performance Analysis</a:t>
              </a:r>
              <a:endParaRPr lang="zh-CN" altLang="en-US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5391C225-32A1-C422-292B-42FA889791F1}"/>
                </a:ext>
              </a:extLst>
            </p:cNvPr>
            <p:cNvSpPr txBox="1"/>
            <p:nvPr userDrawn="1">
              <p:custDataLst>
                <p:tags r:id="rId3"/>
              </p:custDataLst>
            </p:nvPr>
          </p:nvSpPr>
          <p:spPr>
            <a:xfrm>
              <a:off x="3780911" y="4301467"/>
              <a:ext cx="7203057" cy="541547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l"/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04 </a:t>
              </a:r>
              <a:r>
                <a:rPr lang="zh-CN" altLang="en-US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项目应用实现 </a:t>
              </a:r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| Application Implementation</a:t>
              </a: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7B414AE2-C9B4-8397-B2CD-5B312CAF70C3}"/>
                </a:ext>
              </a:extLst>
            </p:cNvPr>
            <p:cNvSpPr txBox="1"/>
            <p:nvPr userDrawn="1">
              <p:custDataLst>
                <p:tags r:id="rId4"/>
              </p:custDataLst>
            </p:nvPr>
          </p:nvSpPr>
          <p:spPr>
            <a:xfrm>
              <a:off x="3780911" y="3369242"/>
              <a:ext cx="7358332" cy="541547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l"/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03 </a:t>
              </a:r>
              <a:r>
                <a:rPr lang="zh-CN" altLang="en-US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项目应用简介 </a:t>
              </a:r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| Application Overview</a:t>
              </a:r>
              <a:endParaRPr lang="zh-CN" altLang="en-US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A4C2D982-4946-BCC2-C0F8-5C3BE9C46E00}"/>
                </a:ext>
              </a:extLst>
            </p:cNvPr>
            <p:cNvSpPr txBox="1"/>
            <p:nvPr userDrawn="1">
              <p:custDataLst>
                <p:tags r:id="rId5"/>
              </p:custDataLst>
            </p:nvPr>
          </p:nvSpPr>
          <p:spPr>
            <a:xfrm>
              <a:off x="3780911" y="5233693"/>
              <a:ext cx="7203057" cy="541547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l"/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05 AI &amp; </a:t>
              </a:r>
              <a:r>
                <a:rPr lang="zh-CN" altLang="en-US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计算机视觉 </a:t>
              </a:r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| AI &amp; Computer Vision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320336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F3B80C9-0205-D01D-695C-E89B6304948A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94" y="68216"/>
            <a:ext cx="2816007" cy="544782"/>
          </a:xfrm>
          <a:prstGeom prst="rect">
            <a:avLst/>
          </a:prstGeom>
        </p:spPr>
      </p:pic>
      <p:grpSp>
        <p:nvGrpSpPr>
          <p:cNvPr id="4" name="组合 3">
            <a:extLst>
              <a:ext uri="{FF2B5EF4-FFF2-40B4-BE49-F238E27FC236}">
                <a16:creationId xmlns:a16="http://schemas.microsoft.com/office/drawing/2014/main" id="{8E56F764-3F73-18D3-2FEC-EE06C6AEE721}"/>
              </a:ext>
            </a:extLst>
          </p:cNvPr>
          <p:cNvGrpSpPr/>
          <p:nvPr userDrawn="1"/>
        </p:nvGrpSpPr>
        <p:grpSpPr>
          <a:xfrm>
            <a:off x="899246" y="2876550"/>
            <a:ext cx="1758315" cy="1104900"/>
            <a:chOff x="2611" y="3339"/>
            <a:chExt cx="2769" cy="1740"/>
          </a:xfrm>
        </p:grpSpPr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D43AE2E8-6108-9E57-1465-7F6926AE08B5}"/>
                </a:ext>
              </a:extLst>
            </p:cNvPr>
            <p:cNvSpPr txBox="1"/>
            <p:nvPr/>
          </p:nvSpPr>
          <p:spPr>
            <a:xfrm>
              <a:off x="2611" y="3339"/>
              <a:ext cx="2769" cy="82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zh-CN" altLang="en-US" sz="4000" b="1" dirty="0">
                  <a:solidFill>
                    <a:srgbClr val="2152A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目</a:t>
              </a:r>
              <a:r>
                <a:rPr lang="en-US" altLang="zh-CN" sz="4000" b="1" dirty="0">
                  <a:solidFill>
                    <a:srgbClr val="2152A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 </a:t>
              </a:r>
              <a:r>
                <a:rPr lang="zh-CN" altLang="en-US" sz="4000" b="1" dirty="0">
                  <a:solidFill>
                    <a:srgbClr val="2152A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录</a:t>
              </a:r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4D1BDEFB-5A73-047D-CC8C-BF4FB1E42846}"/>
                </a:ext>
              </a:extLst>
            </p:cNvPr>
            <p:cNvSpPr txBox="1"/>
            <p:nvPr/>
          </p:nvSpPr>
          <p:spPr>
            <a:xfrm>
              <a:off x="2781" y="4257"/>
              <a:ext cx="2429" cy="82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sz="2400" b="1" dirty="0">
                  <a:solidFill>
                    <a:srgbClr val="2152A0"/>
                  </a:solidFill>
                  <a:latin typeface="微软雅黑" panose="020B0503020204020204" charset="-122"/>
                  <a:ea typeface="微软雅黑" panose="020B0503020204020204" charset="-122"/>
                  <a:cs typeface="Lato Medium" panose="020F0502020204030203" charset="0"/>
                </a:rPr>
                <a:t>contents</a:t>
              </a: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A6D3549E-9F98-74D0-D796-D695D0A6F838}"/>
              </a:ext>
            </a:extLst>
          </p:cNvPr>
          <p:cNvGrpSpPr/>
          <p:nvPr userDrawn="1"/>
        </p:nvGrpSpPr>
        <p:grpSpPr>
          <a:xfrm>
            <a:off x="3826472" y="1324255"/>
            <a:ext cx="7358332" cy="4270449"/>
            <a:chOff x="3780911" y="1504791"/>
            <a:chExt cx="7358332" cy="4270449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F184359A-10E4-D636-E019-CB4536A8F62A}"/>
                </a:ext>
              </a:extLst>
            </p:cNvPr>
            <p:cNvSpPr txBox="1"/>
            <p:nvPr>
              <p:custDataLst>
                <p:tags r:id="rId1"/>
              </p:custDataLst>
            </p:nvPr>
          </p:nvSpPr>
          <p:spPr>
            <a:xfrm>
              <a:off x="3780911" y="1504791"/>
              <a:ext cx="6443933" cy="541547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l"/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01 </a:t>
              </a:r>
              <a:r>
                <a:rPr lang="zh-CN" altLang="en-US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模型训练回顾 </a:t>
              </a:r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| Model Training Review</a:t>
              </a:r>
              <a:endParaRPr lang="zh-CN" altLang="en-US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E2E9C038-4885-8354-0F30-C104A9FC53E5}"/>
                </a:ext>
              </a:extLst>
            </p:cNvPr>
            <p:cNvSpPr txBox="1"/>
            <p:nvPr>
              <p:custDataLst>
                <p:tags r:id="rId2"/>
              </p:custDataLst>
            </p:nvPr>
          </p:nvSpPr>
          <p:spPr>
            <a:xfrm>
              <a:off x="3780911" y="2437017"/>
              <a:ext cx="7358332" cy="541547"/>
            </a:xfrm>
            <a:prstGeom prst="rect">
              <a:avLst/>
            </a:prstGeom>
            <a:solidFill>
              <a:schemeClr val="accent2"/>
            </a:solidFill>
          </p:spPr>
          <p:txBody>
            <a:bodyPr wrap="square" rtlCol="0" anchor="ctr" anchorCtr="0">
              <a:noAutofit/>
            </a:bodyPr>
            <a:lstStyle/>
            <a:p>
              <a:pPr algn="l"/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02 </a:t>
              </a:r>
              <a:r>
                <a:rPr lang="zh-CN" altLang="en-US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模型效果分析 </a:t>
              </a:r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| Model Performance Analysis</a:t>
              </a:r>
              <a:endParaRPr lang="zh-CN" altLang="en-US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EF85F49B-1BB4-71DD-78FE-AF724D70ED7B}"/>
                </a:ext>
              </a:extLst>
            </p:cNvPr>
            <p:cNvSpPr txBox="1"/>
            <p:nvPr userDrawn="1">
              <p:custDataLst>
                <p:tags r:id="rId3"/>
              </p:custDataLst>
            </p:nvPr>
          </p:nvSpPr>
          <p:spPr>
            <a:xfrm>
              <a:off x="3780911" y="4301467"/>
              <a:ext cx="7203057" cy="541547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l"/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04 </a:t>
              </a:r>
              <a:r>
                <a:rPr lang="zh-CN" altLang="en-US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项目应用实现 </a:t>
              </a:r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| Application Implementation</a:t>
              </a: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04582358-E9F2-2716-1F75-FCF15650001E}"/>
                </a:ext>
              </a:extLst>
            </p:cNvPr>
            <p:cNvSpPr txBox="1"/>
            <p:nvPr userDrawn="1">
              <p:custDataLst>
                <p:tags r:id="rId4"/>
              </p:custDataLst>
            </p:nvPr>
          </p:nvSpPr>
          <p:spPr>
            <a:xfrm>
              <a:off x="3780911" y="3369242"/>
              <a:ext cx="7358332" cy="541547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l"/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03 </a:t>
              </a:r>
              <a:r>
                <a:rPr lang="zh-CN" altLang="en-US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项目应用简介 </a:t>
              </a:r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| Application Overview</a:t>
              </a:r>
              <a:endParaRPr lang="zh-CN" altLang="en-US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7AB64AEA-9AE9-3A2F-E9E9-E68123042A71}"/>
                </a:ext>
              </a:extLst>
            </p:cNvPr>
            <p:cNvSpPr txBox="1"/>
            <p:nvPr userDrawn="1">
              <p:custDataLst>
                <p:tags r:id="rId5"/>
              </p:custDataLst>
            </p:nvPr>
          </p:nvSpPr>
          <p:spPr>
            <a:xfrm>
              <a:off x="3780911" y="5233693"/>
              <a:ext cx="7203057" cy="541547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l"/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05 AI &amp; </a:t>
              </a:r>
              <a:r>
                <a:rPr lang="zh-CN" altLang="en-US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计算机视觉 </a:t>
              </a:r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| AI &amp; Computer Vision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415369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F3B80C9-0205-D01D-695C-E89B6304948A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94" y="68216"/>
            <a:ext cx="2816007" cy="544782"/>
          </a:xfrm>
          <a:prstGeom prst="rect">
            <a:avLst/>
          </a:prstGeom>
        </p:spPr>
      </p:pic>
      <p:grpSp>
        <p:nvGrpSpPr>
          <p:cNvPr id="4" name="组合 3">
            <a:extLst>
              <a:ext uri="{FF2B5EF4-FFF2-40B4-BE49-F238E27FC236}">
                <a16:creationId xmlns:a16="http://schemas.microsoft.com/office/drawing/2014/main" id="{8E56F764-3F73-18D3-2FEC-EE06C6AEE721}"/>
              </a:ext>
            </a:extLst>
          </p:cNvPr>
          <p:cNvGrpSpPr/>
          <p:nvPr userDrawn="1"/>
        </p:nvGrpSpPr>
        <p:grpSpPr>
          <a:xfrm>
            <a:off x="899246" y="2876550"/>
            <a:ext cx="1758315" cy="1104900"/>
            <a:chOff x="2611" y="3339"/>
            <a:chExt cx="2769" cy="1740"/>
          </a:xfrm>
        </p:grpSpPr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D43AE2E8-6108-9E57-1465-7F6926AE08B5}"/>
                </a:ext>
              </a:extLst>
            </p:cNvPr>
            <p:cNvSpPr txBox="1"/>
            <p:nvPr/>
          </p:nvSpPr>
          <p:spPr>
            <a:xfrm>
              <a:off x="2611" y="3339"/>
              <a:ext cx="2769" cy="82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zh-CN" altLang="en-US" sz="4000" b="1" dirty="0">
                  <a:solidFill>
                    <a:srgbClr val="2152A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目</a:t>
              </a:r>
              <a:r>
                <a:rPr lang="en-US" altLang="zh-CN" sz="4000" b="1" dirty="0">
                  <a:solidFill>
                    <a:srgbClr val="2152A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 </a:t>
              </a:r>
              <a:r>
                <a:rPr lang="zh-CN" altLang="en-US" sz="4000" b="1" dirty="0">
                  <a:solidFill>
                    <a:srgbClr val="2152A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录</a:t>
              </a:r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4D1BDEFB-5A73-047D-CC8C-BF4FB1E42846}"/>
                </a:ext>
              </a:extLst>
            </p:cNvPr>
            <p:cNvSpPr txBox="1"/>
            <p:nvPr/>
          </p:nvSpPr>
          <p:spPr>
            <a:xfrm>
              <a:off x="2781" y="4257"/>
              <a:ext cx="2429" cy="82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sz="2400" b="1" dirty="0">
                  <a:solidFill>
                    <a:srgbClr val="2152A0"/>
                  </a:solidFill>
                  <a:latin typeface="微软雅黑" panose="020B0503020204020204" charset="-122"/>
                  <a:ea typeface="微软雅黑" panose="020B0503020204020204" charset="-122"/>
                  <a:cs typeface="Lato Medium" panose="020F0502020204030203" charset="0"/>
                </a:rPr>
                <a:t>contents</a:t>
              </a: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2FB787B7-939E-600A-48A3-47A9201713B0}"/>
              </a:ext>
            </a:extLst>
          </p:cNvPr>
          <p:cNvGrpSpPr/>
          <p:nvPr userDrawn="1"/>
        </p:nvGrpSpPr>
        <p:grpSpPr>
          <a:xfrm>
            <a:off x="3826472" y="1324255"/>
            <a:ext cx="7358332" cy="4270449"/>
            <a:chOff x="3780911" y="1504791"/>
            <a:chExt cx="7358332" cy="4270449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91DFBE8A-968F-BCC6-91D2-6C82D11A9306}"/>
                </a:ext>
              </a:extLst>
            </p:cNvPr>
            <p:cNvSpPr txBox="1"/>
            <p:nvPr>
              <p:custDataLst>
                <p:tags r:id="rId1"/>
              </p:custDataLst>
            </p:nvPr>
          </p:nvSpPr>
          <p:spPr>
            <a:xfrm>
              <a:off x="3780911" y="1504791"/>
              <a:ext cx="6443933" cy="541547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l"/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01 </a:t>
              </a:r>
              <a:r>
                <a:rPr lang="zh-CN" altLang="en-US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模型训练回顾 </a:t>
              </a:r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| Model Training Review</a:t>
              </a:r>
              <a:endParaRPr lang="zh-CN" altLang="en-US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983266A3-8CE1-9D4F-C89D-B8A365B743BF}"/>
                </a:ext>
              </a:extLst>
            </p:cNvPr>
            <p:cNvSpPr txBox="1"/>
            <p:nvPr>
              <p:custDataLst>
                <p:tags r:id="rId2"/>
              </p:custDataLst>
            </p:nvPr>
          </p:nvSpPr>
          <p:spPr>
            <a:xfrm>
              <a:off x="3780911" y="2437017"/>
              <a:ext cx="7358332" cy="541547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l"/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02 </a:t>
              </a:r>
              <a:r>
                <a:rPr lang="zh-CN" altLang="en-US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模型效果分析 </a:t>
              </a:r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| Model Performance Analysis</a:t>
              </a:r>
              <a:endParaRPr lang="zh-CN" altLang="en-US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288B3306-BA6F-145E-C2A8-4FCAD46F3209}"/>
                </a:ext>
              </a:extLst>
            </p:cNvPr>
            <p:cNvSpPr txBox="1"/>
            <p:nvPr userDrawn="1">
              <p:custDataLst>
                <p:tags r:id="rId3"/>
              </p:custDataLst>
            </p:nvPr>
          </p:nvSpPr>
          <p:spPr>
            <a:xfrm>
              <a:off x="3780911" y="4301467"/>
              <a:ext cx="7203057" cy="541547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l"/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04 </a:t>
              </a:r>
              <a:r>
                <a:rPr lang="zh-CN" altLang="en-US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项目应用实现 </a:t>
              </a:r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| Application Implementation</a:t>
              </a: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12CAEB11-972A-E85A-F1CB-22D854BBAA58}"/>
                </a:ext>
              </a:extLst>
            </p:cNvPr>
            <p:cNvSpPr txBox="1"/>
            <p:nvPr userDrawn="1">
              <p:custDataLst>
                <p:tags r:id="rId4"/>
              </p:custDataLst>
            </p:nvPr>
          </p:nvSpPr>
          <p:spPr>
            <a:xfrm>
              <a:off x="3780911" y="3369242"/>
              <a:ext cx="7358332" cy="541547"/>
            </a:xfrm>
            <a:prstGeom prst="rect">
              <a:avLst/>
            </a:prstGeom>
            <a:solidFill>
              <a:schemeClr val="accent2"/>
            </a:solidFill>
          </p:spPr>
          <p:txBody>
            <a:bodyPr wrap="square" rtlCol="0" anchor="ctr" anchorCtr="0">
              <a:noAutofit/>
            </a:bodyPr>
            <a:lstStyle/>
            <a:p>
              <a:pPr algn="l"/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03 </a:t>
              </a:r>
              <a:r>
                <a:rPr lang="zh-CN" altLang="en-US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项目应用简介 </a:t>
              </a:r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| Application Overview</a:t>
              </a:r>
              <a:endParaRPr lang="zh-CN" altLang="en-US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D191A74C-CE90-3543-F9D0-5EFE2B139F04}"/>
                </a:ext>
              </a:extLst>
            </p:cNvPr>
            <p:cNvSpPr txBox="1"/>
            <p:nvPr userDrawn="1">
              <p:custDataLst>
                <p:tags r:id="rId5"/>
              </p:custDataLst>
            </p:nvPr>
          </p:nvSpPr>
          <p:spPr>
            <a:xfrm>
              <a:off x="3780911" y="5233693"/>
              <a:ext cx="7203057" cy="541547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l"/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05 AI &amp; </a:t>
              </a:r>
              <a:r>
                <a:rPr lang="zh-CN" altLang="en-US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计算机视觉 </a:t>
              </a:r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| AI &amp; Computer Vision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04472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F3B80C9-0205-D01D-695C-E89B6304948A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94" y="68216"/>
            <a:ext cx="2816007" cy="544782"/>
          </a:xfrm>
          <a:prstGeom prst="rect">
            <a:avLst/>
          </a:prstGeom>
        </p:spPr>
      </p:pic>
      <p:grpSp>
        <p:nvGrpSpPr>
          <p:cNvPr id="4" name="组合 3">
            <a:extLst>
              <a:ext uri="{FF2B5EF4-FFF2-40B4-BE49-F238E27FC236}">
                <a16:creationId xmlns:a16="http://schemas.microsoft.com/office/drawing/2014/main" id="{8E56F764-3F73-18D3-2FEC-EE06C6AEE721}"/>
              </a:ext>
            </a:extLst>
          </p:cNvPr>
          <p:cNvGrpSpPr/>
          <p:nvPr userDrawn="1"/>
        </p:nvGrpSpPr>
        <p:grpSpPr>
          <a:xfrm>
            <a:off x="899246" y="2876550"/>
            <a:ext cx="1758315" cy="1104900"/>
            <a:chOff x="2611" y="3339"/>
            <a:chExt cx="2769" cy="1740"/>
          </a:xfrm>
        </p:grpSpPr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D43AE2E8-6108-9E57-1465-7F6926AE08B5}"/>
                </a:ext>
              </a:extLst>
            </p:cNvPr>
            <p:cNvSpPr txBox="1"/>
            <p:nvPr/>
          </p:nvSpPr>
          <p:spPr>
            <a:xfrm>
              <a:off x="2611" y="3339"/>
              <a:ext cx="2769" cy="82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zh-CN" altLang="en-US" sz="4000" b="1" dirty="0">
                  <a:solidFill>
                    <a:srgbClr val="2152A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目</a:t>
              </a:r>
              <a:r>
                <a:rPr lang="en-US" altLang="zh-CN" sz="4000" b="1" dirty="0">
                  <a:solidFill>
                    <a:srgbClr val="2152A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 </a:t>
              </a:r>
              <a:r>
                <a:rPr lang="zh-CN" altLang="en-US" sz="4000" b="1" dirty="0">
                  <a:solidFill>
                    <a:srgbClr val="2152A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录</a:t>
              </a:r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4D1BDEFB-5A73-047D-CC8C-BF4FB1E42846}"/>
                </a:ext>
              </a:extLst>
            </p:cNvPr>
            <p:cNvSpPr txBox="1"/>
            <p:nvPr/>
          </p:nvSpPr>
          <p:spPr>
            <a:xfrm>
              <a:off x="2781" y="4257"/>
              <a:ext cx="2429" cy="82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sz="2400" b="1" dirty="0">
                  <a:solidFill>
                    <a:srgbClr val="2152A0"/>
                  </a:solidFill>
                  <a:latin typeface="微软雅黑" panose="020B0503020204020204" charset="-122"/>
                  <a:ea typeface="微软雅黑" panose="020B0503020204020204" charset="-122"/>
                  <a:cs typeface="Lato Medium" panose="020F0502020204030203" charset="0"/>
                </a:rPr>
                <a:t>contents</a:t>
              </a: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3EC53CA4-F3DE-5EEB-0579-30B8203719D4}"/>
              </a:ext>
            </a:extLst>
          </p:cNvPr>
          <p:cNvGrpSpPr/>
          <p:nvPr userDrawn="1"/>
        </p:nvGrpSpPr>
        <p:grpSpPr>
          <a:xfrm>
            <a:off x="3826472" y="1324255"/>
            <a:ext cx="7358332" cy="4270449"/>
            <a:chOff x="3780911" y="1504791"/>
            <a:chExt cx="7358332" cy="4270449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1D4CB1E6-B717-3F7A-1716-F2A5B23F1550}"/>
                </a:ext>
              </a:extLst>
            </p:cNvPr>
            <p:cNvSpPr txBox="1"/>
            <p:nvPr>
              <p:custDataLst>
                <p:tags r:id="rId1"/>
              </p:custDataLst>
            </p:nvPr>
          </p:nvSpPr>
          <p:spPr>
            <a:xfrm>
              <a:off x="3780911" y="1504791"/>
              <a:ext cx="6443933" cy="541547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l"/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01 </a:t>
              </a:r>
              <a:r>
                <a:rPr lang="zh-CN" altLang="en-US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模型训练回顾 </a:t>
              </a:r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| Model Training Review</a:t>
              </a:r>
              <a:endParaRPr lang="zh-CN" altLang="en-US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3A63D03A-9E4C-E759-52E3-4CB14BFEA6CA}"/>
                </a:ext>
              </a:extLst>
            </p:cNvPr>
            <p:cNvSpPr txBox="1"/>
            <p:nvPr>
              <p:custDataLst>
                <p:tags r:id="rId2"/>
              </p:custDataLst>
            </p:nvPr>
          </p:nvSpPr>
          <p:spPr>
            <a:xfrm>
              <a:off x="3780911" y="2437017"/>
              <a:ext cx="7358332" cy="541547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l"/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02 </a:t>
              </a:r>
              <a:r>
                <a:rPr lang="zh-CN" altLang="en-US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模型效果分析 </a:t>
              </a:r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| Model Performance Analysis</a:t>
              </a:r>
              <a:endParaRPr lang="zh-CN" altLang="en-US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83F25B1E-E1D4-5CC2-947C-CB921570790B}"/>
                </a:ext>
              </a:extLst>
            </p:cNvPr>
            <p:cNvSpPr txBox="1"/>
            <p:nvPr userDrawn="1">
              <p:custDataLst>
                <p:tags r:id="rId3"/>
              </p:custDataLst>
            </p:nvPr>
          </p:nvSpPr>
          <p:spPr>
            <a:xfrm>
              <a:off x="3780911" y="4301467"/>
              <a:ext cx="7203057" cy="541547"/>
            </a:xfrm>
            <a:prstGeom prst="rect">
              <a:avLst/>
            </a:prstGeom>
            <a:solidFill>
              <a:schemeClr val="accent2"/>
            </a:solidFill>
          </p:spPr>
          <p:txBody>
            <a:bodyPr wrap="square" rtlCol="0" anchor="ctr" anchorCtr="0">
              <a:noAutofit/>
            </a:bodyPr>
            <a:lstStyle/>
            <a:p>
              <a:pPr algn="l"/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04 </a:t>
              </a:r>
              <a:r>
                <a:rPr lang="zh-CN" altLang="en-US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项目应用实现 </a:t>
              </a:r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| Application Implementation</a:t>
              </a: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FE721C0A-7A4A-DB9D-2B62-C2F02CEA79CB}"/>
                </a:ext>
              </a:extLst>
            </p:cNvPr>
            <p:cNvSpPr txBox="1"/>
            <p:nvPr userDrawn="1">
              <p:custDataLst>
                <p:tags r:id="rId4"/>
              </p:custDataLst>
            </p:nvPr>
          </p:nvSpPr>
          <p:spPr>
            <a:xfrm>
              <a:off x="3780911" y="3369242"/>
              <a:ext cx="7358332" cy="541547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l"/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03 </a:t>
              </a:r>
              <a:r>
                <a:rPr lang="zh-CN" altLang="en-US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项目应用简介 </a:t>
              </a:r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| Application Overview</a:t>
              </a:r>
              <a:endParaRPr lang="zh-CN" altLang="en-US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F34257C0-2599-E5B5-D55D-4F18DA082047}"/>
                </a:ext>
              </a:extLst>
            </p:cNvPr>
            <p:cNvSpPr txBox="1"/>
            <p:nvPr userDrawn="1">
              <p:custDataLst>
                <p:tags r:id="rId5"/>
              </p:custDataLst>
            </p:nvPr>
          </p:nvSpPr>
          <p:spPr>
            <a:xfrm>
              <a:off x="3780911" y="5233693"/>
              <a:ext cx="7203057" cy="541547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l"/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05 AI &amp; </a:t>
              </a:r>
              <a:r>
                <a:rPr lang="zh-CN" altLang="en-US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计算机视觉 </a:t>
              </a:r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| AI &amp; Computer Vision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799118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F3B80C9-0205-D01D-695C-E89B6304948A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94" y="68216"/>
            <a:ext cx="2816007" cy="544782"/>
          </a:xfrm>
          <a:prstGeom prst="rect">
            <a:avLst/>
          </a:prstGeom>
        </p:spPr>
      </p:pic>
      <p:grpSp>
        <p:nvGrpSpPr>
          <p:cNvPr id="4" name="组合 3">
            <a:extLst>
              <a:ext uri="{FF2B5EF4-FFF2-40B4-BE49-F238E27FC236}">
                <a16:creationId xmlns:a16="http://schemas.microsoft.com/office/drawing/2014/main" id="{8E56F764-3F73-18D3-2FEC-EE06C6AEE721}"/>
              </a:ext>
            </a:extLst>
          </p:cNvPr>
          <p:cNvGrpSpPr/>
          <p:nvPr userDrawn="1"/>
        </p:nvGrpSpPr>
        <p:grpSpPr>
          <a:xfrm>
            <a:off x="899246" y="2876550"/>
            <a:ext cx="1758315" cy="1104900"/>
            <a:chOff x="2611" y="3339"/>
            <a:chExt cx="2769" cy="1740"/>
          </a:xfrm>
        </p:grpSpPr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D43AE2E8-6108-9E57-1465-7F6926AE08B5}"/>
                </a:ext>
              </a:extLst>
            </p:cNvPr>
            <p:cNvSpPr txBox="1"/>
            <p:nvPr/>
          </p:nvSpPr>
          <p:spPr>
            <a:xfrm>
              <a:off x="2611" y="3339"/>
              <a:ext cx="2769" cy="82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zh-CN" altLang="en-US" sz="4000" b="1" dirty="0">
                  <a:solidFill>
                    <a:srgbClr val="2152A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目</a:t>
              </a:r>
              <a:r>
                <a:rPr lang="en-US" altLang="zh-CN" sz="4000" b="1" dirty="0">
                  <a:solidFill>
                    <a:srgbClr val="2152A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 </a:t>
              </a:r>
              <a:r>
                <a:rPr lang="zh-CN" altLang="en-US" sz="4000" b="1" dirty="0">
                  <a:solidFill>
                    <a:srgbClr val="2152A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录</a:t>
              </a:r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4D1BDEFB-5A73-047D-CC8C-BF4FB1E42846}"/>
                </a:ext>
              </a:extLst>
            </p:cNvPr>
            <p:cNvSpPr txBox="1"/>
            <p:nvPr/>
          </p:nvSpPr>
          <p:spPr>
            <a:xfrm>
              <a:off x="2781" y="4257"/>
              <a:ext cx="2429" cy="82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sz="2400" b="1" dirty="0">
                  <a:solidFill>
                    <a:srgbClr val="2152A0"/>
                  </a:solidFill>
                  <a:latin typeface="微软雅黑" panose="020B0503020204020204" charset="-122"/>
                  <a:ea typeface="微软雅黑" panose="020B0503020204020204" charset="-122"/>
                  <a:cs typeface="Lato Medium" panose="020F0502020204030203" charset="0"/>
                </a:rPr>
                <a:t>contents</a:t>
              </a: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3EC53CA4-F3DE-5EEB-0579-30B8203719D4}"/>
              </a:ext>
            </a:extLst>
          </p:cNvPr>
          <p:cNvGrpSpPr/>
          <p:nvPr userDrawn="1"/>
        </p:nvGrpSpPr>
        <p:grpSpPr>
          <a:xfrm>
            <a:off x="3826472" y="1324255"/>
            <a:ext cx="7358332" cy="4270449"/>
            <a:chOff x="3780911" y="1504791"/>
            <a:chExt cx="7358332" cy="4270449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1D4CB1E6-B717-3F7A-1716-F2A5B23F1550}"/>
                </a:ext>
              </a:extLst>
            </p:cNvPr>
            <p:cNvSpPr txBox="1"/>
            <p:nvPr>
              <p:custDataLst>
                <p:tags r:id="rId1"/>
              </p:custDataLst>
            </p:nvPr>
          </p:nvSpPr>
          <p:spPr>
            <a:xfrm>
              <a:off x="3780911" y="1504791"/>
              <a:ext cx="6443933" cy="541547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l"/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01 </a:t>
              </a:r>
              <a:r>
                <a:rPr lang="zh-CN" altLang="en-US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模型训练回顾 </a:t>
              </a:r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| Model Training Review</a:t>
              </a:r>
              <a:endParaRPr lang="zh-CN" altLang="en-US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3A63D03A-9E4C-E759-52E3-4CB14BFEA6CA}"/>
                </a:ext>
              </a:extLst>
            </p:cNvPr>
            <p:cNvSpPr txBox="1"/>
            <p:nvPr>
              <p:custDataLst>
                <p:tags r:id="rId2"/>
              </p:custDataLst>
            </p:nvPr>
          </p:nvSpPr>
          <p:spPr>
            <a:xfrm>
              <a:off x="3780911" y="2437017"/>
              <a:ext cx="7358332" cy="541547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l"/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02 </a:t>
              </a:r>
              <a:r>
                <a:rPr lang="zh-CN" altLang="en-US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模型效果分析 </a:t>
              </a:r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| Model Performance Analysis</a:t>
              </a:r>
              <a:endParaRPr lang="zh-CN" altLang="en-US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83F25B1E-E1D4-5CC2-947C-CB921570790B}"/>
                </a:ext>
              </a:extLst>
            </p:cNvPr>
            <p:cNvSpPr txBox="1"/>
            <p:nvPr userDrawn="1">
              <p:custDataLst>
                <p:tags r:id="rId3"/>
              </p:custDataLst>
            </p:nvPr>
          </p:nvSpPr>
          <p:spPr>
            <a:xfrm>
              <a:off x="3780911" y="4301467"/>
              <a:ext cx="7203057" cy="541547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l"/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04 </a:t>
              </a:r>
              <a:r>
                <a:rPr lang="zh-CN" altLang="en-US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项目应用实现 </a:t>
              </a:r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| Application Implementation</a:t>
              </a: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FE721C0A-7A4A-DB9D-2B62-C2F02CEA79CB}"/>
                </a:ext>
              </a:extLst>
            </p:cNvPr>
            <p:cNvSpPr txBox="1"/>
            <p:nvPr userDrawn="1">
              <p:custDataLst>
                <p:tags r:id="rId4"/>
              </p:custDataLst>
            </p:nvPr>
          </p:nvSpPr>
          <p:spPr>
            <a:xfrm>
              <a:off x="3780911" y="3369242"/>
              <a:ext cx="7358332" cy="541547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l"/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03 </a:t>
              </a:r>
              <a:r>
                <a:rPr lang="zh-CN" altLang="en-US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项目应用简介 </a:t>
              </a:r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| Application Overview</a:t>
              </a:r>
              <a:endParaRPr lang="zh-CN" altLang="en-US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F34257C0-2599-E5B5-D55D-4F18DA082047}"/>
                </a:ext>
              </a:extLst>
            </p:cNvPr>
            <p:cNvSpPr txBox="1"/>
            <p:nvPr userDrawn="1">
              <p:custDataLst>
                <p:tags r:id="rId5"/>
              </p:custDataLst>
            </p:nvPr>
          </p:nvSpPr>
          <p:spPr>
            <a:xfrm>
              <a:off x="3780911" y="5233693"/>
              <a:ext cx="7203057" cy="541547"/>
            </a:xfrm>
            <a:prstGeom prst="rect">
              <a:avLst/>
            </a:prstGeom>
            <a:solidFill>
              <a:schemeClr val="accent2"/>
            </a:solidFill>
          </p:spPr>
          <p:txBody>
            <a:bodyPr wrap="square" rtlCol="0" anchor="ctr" anchorCtr="0">
              <a:noAutofit/>
            </a:bodyPr>
            <a:lstStyle/>
            <a:p>
              <a:pPr algn="l"/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05 AI &amp; </a:t>
              </a:r>
              <a:r>
                <a:rPr lang="zh-CN" altLang="en-US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计算机视觉 </a:t>
              </a:r>
              <a:r>
                <a:rPr lang="en-US" altLang="zh-CN" sz="2400" b="1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</a:rPr>
                <a:t>| AI &amp; Computer Vision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640389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7ABE751C-0110-2578-D3CC-7DF8F50044F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0962" y="71971"/>
            <a:ext cx="2138429" cy="413698"/>
          </a:xfrm>
          <a:prstGeom prst="rect">
            <a:avLst/>
          </a:prstGeom>
        </p:spPr>
      </p:pic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C72F9DE8-626B-7504-9AE9-23CAEA04EE80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569840"/>
            <a:ext cx="12192000" cy="0"/>
          </a:xfrm>
          <a:prstGeom prst="line">
            <a:avLst/>
          </a:prstGeom>
          <a:ln w="38100">
            <a:gradFill flip="none" rotWithShape="1">
              <a:gsLst>
                <a:gs pos="0">
                  <a:schemeClr val="bg2">
                    <a:lumMod val="90000"/>
                  </a:schemeClr>
                </a:gs>
                <a:gs pos="100000">
                  <a:schemeClr val="accent1"/>
                </a:gs>
              </a:gsLst>
              <a:lin ang="0" scaled="0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C9AB49ED-3A2C-9218-6105-5F5CFA38721A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>
          <a:xfrm>
            <a:off x="134679" y="36800"/>
            <a:ext cx="8905804" cy="496568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01 </a:t>
            </a:r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模型训练回顾 </a:t>
            </a:r>
            <a:r>
              <a:rPr lang="en-US" altLang="zh-CN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| Model Training Review</a:t>
            </a:r>
            <a:endParaRPr lang="zh-CN" altLang="en-US" sz="24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48633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7ABE751C-0110-2578-D3CC-7DF8F50044F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0962" y="71971"/>
            <a:ext cx="2138429" cy="413698"/>
          </a:xfrm>
          <a:prstGeom prst="rect">
            <a:avLst/>
          </a:prstGeom>
        </p:spPr>
      </p:pic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C72F9DE8-626B-7504-9AE9-23CAEA04EE80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569840"/>
            <a:ext cx="12192000" cy="0"/>
          </a:xfrm>
          <a:prstGeom prst="line">
            <a:avLst/>
          </a:prstGeom>
          <a:ln w="38100">
            <a:gradFill flip="none" rotWithShape="1">
              <a:gsLst>
                <a:gs pos="0">
                  <a:schemeClr val="bg2">
                    <a:lumMod val="90000"/>
                  </a:schemeClr>
                </a:gs>
                <a:gs pos="100000">
                  <a:schemeClr val="accent1"/>
                </a:gs>
              </a:gsLst>
              <a:lin ang="0" scaled="0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C9AB49ED-3A2C-9218-6105-5F5CFA38721A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>
          <a:xfrm>
            <a:off x="134679" y="36800"/>
            <a:ext cx="8905804" cy="496568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02 </a:t>
            </a:r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模型效果分析 </a:t>
            </a:r>
            <a:r>
              <a:rPr lang="en-US" altLang="zh-CN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| Model Performance Analysis</a:t>
            </a:r>
            <a:endParaRPr lang="zh-CN" altLang="en-US" sz="24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670335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7ABE751C-0110-2578-D3CC-7DF8F50044F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0962" y="71971"/>
            <a:ext cx="2138429" cy="413698"/>
          </a:xfrm>
          <a:prstGeom prst="rect">
            <a:avLst/>
          </a:prstGeom>
        </p:spPr>
      </p:pic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C72F9DE8-626B-7504-9AE9-23CAEA04EE80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569840"/>
            <a:ext cx="12192000" cy="0"/>
          </a:xfrm>
          <a:prstGeom prst="line">
            <a:avLst/>
          </a:prstGeom>
          <a:ln w="38100">
            <a:gradFill flip="none" rotWithShape="1">
              <a:gsLst>
                <a:gs pos="0">
                  <a:schemeClr val="bg2">
                    <a:lumMod val="90000"/>
                  </a:schemeClr>
                </a:gs>
                <a:gs pos="100000">
                  <a:schemeClr val="accent1"/>
                </a:gs>
              </a:gsLst>
              <a:lin ang="0" scaled="0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C9AB49ED-3A2C-9218-6105-5F5CFA38721A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>
          <a:xfrm>
            <a:off x="134679" y="36800"/>
            <a:ext cx="8905804" cy="496568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03 </a:t>
            </a:r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项目应用简介 </a:t>
            </a:r>
            <a:r>
              <a:rPr lang="en-US" altLang="zh-CN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| Application Overview</a:t>
            </a:r>
            <a:endParaRPr lang="zh-CN" altLang="en-US" sz="24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398011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7ABE751C-0110-2578-D3CC-7DF8F50044F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0962" y="71971"/>
            <a:ext cx="2138429" cy="413698"/>
          </a:xfrm>
          <a:prstGeom prst="rect">
            <a:avLst/>
          </a:prstGeom>
        </p:spPr>
      </p:pic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C72F9DE8-626B-7504-9AE9-23CAEA04EE80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569840"/>
            <a:ext cx="12192000" cy="0"/>
          </a:xfrm>
          <a:prstGeom prst="line">
            <a:avLst/>
          </a:prstGeom>
          <a:ln w="38100">
            <a:gradFill flip="none" rotWithShape="1">
              <a:gsLst>
                <a:gs pos="0">
                  <a:schemeClr val="bg2">
                    <a:lumMod val="90000"/>
                  </a:schemeClr>
                </a:gs>
                <a:gs pos="100000">
                  <a:schemeClr val="accent1"/>
                </a:gs>
              </a:gsLst>
              <a:lin ang="0" scaled="0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C9AB49ED-3A2C-9218-6105-5F5CFA38721A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>
          <a:xfrm>
            <a:off x="134679" y="36800"/>
            <a:ext cx="8905804" cy="496568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04 </a:t>
            </a:r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项目应用实现 </a:t>
            </a:r>
            <a:r>
              <a:rPr lang="en-US" altLang="zh-CN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| Application Implementation</a:t>
            </a:r>
            <a:endParaRPr lang="zh-CN" altLang="en-US" sz="24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254134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7ABE751C-0110-2578-D3CC-7DF8F50044F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0962" y="71971"/>
            <a:ext cx="2138429" cy="413698"/>
          </a:xfrm>
          <a:prstGeom prst="rect">
            <a:avLst/>
          </a:prstGeom>
        </p:spPr>
      </p:pic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C72F9DE8-626B-7504-9AE9-23CAEA04EE80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569840"/>
            <a:ext cx="12192000" cy="0"/>
          </a:xfrm>
          <a:prstGeom prst="line">
            <a:avLst/>
          </a:prstGeom>
          <a:ln w="38100">
            <a:gradFill flip="none" rotWithShape="1">
              <a:gsLst>
                <a:gs pos="0">
                  <a:schemeClr val="bg2">
                    <a:lumMod val="90000"/>
                  </a:schemeClr>
                </a:gs>
                <a:gs pos="100000">
                  <a:schemeClr val="accent1"/>
                </a:gs>
              </a:gsLst>
              <a:lin ang="0" scaled="0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C9AB49ED-3A2C-9218-6105-5F5CFA38721A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>
          <a:xfrm>
            <a:off x="134679" y="36800"/>
            <a:ext cx="8905804" cy="496568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05 AI &amp; </a:t>
            </a:r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计算机视觉 </a:t>
            </a:r>
            <a:r>
              <a:rPr lang="en-US" altLang="zh-CN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| AI &amp; Computer Vision</a:t>
            </a:r>
            <a:endParaRPr lang="zh-CN" altLang="en-US" sz="24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962803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EA2D34C-8D4A-8AE7-481A-1047DEE323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94" y="68216"/>
            <a:ext cx="2816007" cy="544782"/>
          </a:xfrm>
          <a:prstGeom prst="rect">
            <a:avLst/>
          </a:prstGeom>
        </p:spPr>
      </p:pic>
      <p:pic>
        <p:nvPicPr>
          <p:cNvPr id="8" name="图片 7" descr="/Users/imac/Library/Containers/com.kingsoft.wpsoffice.mac/Data/tmp/picturecompress_20241213185745/output_18.pngoutput_18">
            <a:extLst>
              <a:ext uri="{FF2B5EF4-FFF2-40B4-BE49-F238E27FC236}">
                <a16:creationId xmlns:a16="http://schemas.microsoft.com/office/drawing/2014/main" id="{25C4E88A-9A50-F24D-6E14-E24B7BD6849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1992309" y="4453255"/>
            <a:ext cx="8206740" cy="2309495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1BC14159-CD7B-2013-3CCD-70008441D3C2}"/>
              </a:ext>
            </a:extLst>
          </p:cNvPr>
          <p:cNvSpPr txBox="1"/>
          <p:nvPr userDrawn="1"/>
        </p:nvSpPr>
        <p:spPr>
          <a:xfrm>
            <a:off x="2701285" y="2232831"/>
            <a:ext cx="6788785" cy="710451"/>
          </a:xfrm>
          <a:prstGeom prst="rect">
            <a:avLst/>
          </a:prstGeom>
          <a:noFill/>
        </p:spPr>
        <p:txBody>
          <a:bodyPr wrap="square" lIns="90170" tIns="46990" rIns="90170" bIns="46990" rtlCol="0" anchor="ctr" anchorCtr="0">
            <a:spAutoFit/>
          </a:bodyPr>
          <a:lstStyle/>
          <a:p>
            <a:pPr algn="ctr"/>
            <a:r>
              <a:rPr lang="zh-CN" altLang="en-US" sz="4000" b="1" dirty="0">
                <a:solidFill>
                  <a:srgbClr val="2152A0"/>
                </a:solidFill>
                <a:latin typeface="微软雅黑" panose="020B0503020204020204" charset="-122"/>
                <a:ea typeface="微软雅黑" panose="020B0503020204020204" charset="-122"/>
              </a:rPr>
              <a:t>谢谢观看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86BAC1E-72D1-4C68-8026-226310C267B6}"/>
              </a:ext>
            </a:extLst>
          </p:cNvPr>
          <p:cNvSpPr txBox="1"/>
          <p:nvPr userDrawn="1"/>
        </p:nvSpPr>
        <p:spPr>
          <a:xfrm>
            <a:off x="3668391" y="3000599"/>
            <a:ext cx="4854575" cy="40011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/>
            <a:r>
              <a:rPr lang="en-US" altLang="zh-CN" sz="2000" b="1" dirty="0">
                <a:solidFill>
                  <a:srgbClr val="2152A0"/>
                </a:solidFill>
                <a:latin typeface="微软雅黑" panose="020B0503020204020204" charset="-122"/>
                <a:ea typeface="微软雅黑" panose="020B0503020204020204" charset="-122"/>
                <a:cs typeface="Lato Medium" panose="020F0502020204030203" charset="0"/>
              </a:rPr>
              <a:t>THANKS</a:t>
            </a:r>
          </a:p>
        </p:txBody>
      </p:sp>
    </p:spTree>
    <p:extLst>
      <p:ext uri="{BB962C8B-B14F-4D97-AF65-F5344CB8AC3E}">
        <p14:creationId xmlns:p14="http://schemas.microsoft.com/office/powerpoint/2010/main" val="29853619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资源 27">
            <a:extLst>
              <a:ext uri="{FF2B5EF4-FFF2-40B4-BE49-F238E27FC236}">
                <a16:creationId xmlns:a16="http://schemas.microsoft.com/office/drawing/2014/main" id="{BD7EB354-5402-F955-1E0D-DBEE2B6321FF}"/>
              </a:ext>
            </a:extLst>
          </p:cNvPr>
          <p:cNvPicPr>
            <a:picLocks noChangeAspect="1"/>
          </p:cNvPicPr>
          <p:nvPr userDrawn="1">
            <p:custDataLst>
              <p:tags r:id="rId15"/>
            </p:custDataLst>
          </p:nvPr>
        </p:nvPicPr>
        <p:blipFill>
          <a:blip r:embed="rId16" cstate="screen"/>
          <a:stretch>
            <a:fillRect/>
          </a:stretch>
        </p:blipFill>
        <p:spPr>
          <a:xfrm>
            <a:off x="0" y="6762750"/>
            <a:ext cx="12191365" cy="95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7498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4" r:id="rId3"/>
    <p:sldLayoutId id="2147483665" r:id="rId4"/>
    <p:sldLayoutId id="2147483666" r:id="rId5"/>
    <p:sldLayoutId id="2147483667" r:id="rId6"/>
    <p:sldLayoutId id="2147483671" r:id="rId7"/>
    <p:sldLayoutId id="2147483652" r:id="rId8"/>
    <p:sldLayoutId id="2147483668" r:id="rId9"/>
    <p:sldLayoutId id="2147483669" r:id="rId10"/>
    <p:sldLayoutId id="2147483670" r:id="rId11"/>
    <p:sldLayoutId id="2147483672" r:id="rId12"/>
    <p:sldLayoutId id="2147483650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7" Type="http://schemas.openxmlformats.org/officeDocument/2006/relationships/image" Target="../media/image13.png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6" Type="http://schemas.openxmlformats.org/officeDocument/2006/relationships/image" Target="../media/image12.jpg"/><Relationship Id="rId5" Type="http://schemas.openxmlformats.org/officeDocument/2006/relationships/image" Target="../media/image5.png"/><Relationship Id="rId4" Type="http://schemas.openxmlformats.org/officeDocument/2006/relationships/notesSlide" Target="../notesSlides/notesSlide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9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2.jp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3.jp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4.jp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5.jp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6.jp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7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589729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6017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61347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" name="组合 78">
            <a:extLst>
              <a:ext uri="{FF2B5EF4-FFF2-40B4-BE49-F238E27FC236}">
                <a16:creationId xmlns:a16="http://schemas.microsoft.com/office/drawing/2014/main" id="{2C1B4CFC-6A6C-9BCC-140F-381FA1271C21}"/>
              </a:ext>
            </a:extLst>
          </p:cNvPr>
          <p:cNvGrpSpPr/>
          <p:nvPr/>
        </p:nvGrpSpPr>
        <p:grpSpPr>
          <a:xfrm>
            <a:off x="505691" y="1828801"/>
            <a:ext cx="2332883" cy="4266184"/>
            <a:chOff x="737754" y="2253671"/>
            <a:chExt cx="2213187" cy="2983347"/>
          </a:xfrm>
        </p:grpSpPr>
        <p:sp>
          <p:nvSpPr>
            <p:cNvPr id="26" name="Shape 2">
              <a:extLst>
                <a:ext uri="{FF2B5EF4-FFF2-40B4-BE49-F238E27FC236}">
                  <a16:creationId xmlns:a16="http://schemas.microsoft.com/office/drawing/2014/main" id="{C7AB391A-A6DD-61CC-5CC8-D56C5E2FBCEA}"/>
                </a:ext>
              </a:extLst>
            </p:cNvPr>
            <p:cNvSpPr/>
            <p:nvPr/>
          </p:nvSpPr>
          <p:spPr>
            <a:xfrm>
              <a:off x="737754" y="2253671"/>
              <a:ext cx="1863737" cy="2983347"/>
            </a:xfrm>
            <a:prstGeom prst="roundRect">
              <a:avLst>
                <a:gd name="adj" fmla="val 9375"/>
              </a:avLst>
            </a:prstGeom>
            <a:solidFill>
              <a:srgbClr val="3B82F6"/>
            </a:solidFill>
            <a:ln/>
          </p:spPr>
        </p:sp>
        <p:sp>
          <p:nvSpPr>
            <p:cNvPr id="28" name="Text 4">
              <a:extLst>
                <a:ext uri="{FF2B5EF4-FFF2-40B4-BE49-F238E27FC236}">
                  <a16:creationId xmlns:a16="http://schemas.microsoft.com/office/drawing/2014/main" id="{8B4907B0-80A4-5A90-A718-AC9F67DE3248}"/>
                </a:ext>
              </a:extLst>
            </p:cNvPr>
            <p:cNvSpPr/>
            <p:nvPr/>
          </p:nvSpPr>
          <p:spPr>
            <a:xfrm>
              <a:off x="737754" y="2863901"/>
              <a:ext cx="1863737" cy="542426"/>
            </a:xfrm>
            <a:prstGeom prst="rect">
              <a:avLst/>
            </a:prstGeom>
            <a:noFill/>
            <a:ln/>
          </p:spPr>
          <p:txBody>
            <a:bodyPr wrap="square" rtlCol="0" anchor="ctr">
              <a:normAutofit/>
            </a:bodyPr>
            <a:lstStyle/>
            <a:p>
              <a:pPr algn="ctr"/>
              <a:r>
                <a:rPr lang="en-US" sz="28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alibri" pitchFamily="34" charset="-120"/>
                </a:rPr>
                <a:t>数据采集</a:t>
              </a:r>
              <a:endParaRPr 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Text 5">
              <a:extLst>
                <a:ext uri="{FF2B5EF4-FFF2-40B4-BE49-F238E27FC236}">
                  <a16:creationId xmlns:a16="http://schemas.microsoft.com/office/drawing/2014/main" id="{2552C254-13BF-00F4-2FF9-784100CBEE36}"/>
                </a:ext>
              </a:extLst>
            </p:cNvPr>
            <p:cNvSpPr/>
            <p:nvPr/>
          </p:nvSpPr>
          <p:spPr>
            <a:xfrm>
              <a:off x="737754" y="4016558"/>
              <a:ext cx="1863737" cy="881444"/>
            </a:xfrm>
            <a:prstGeom prst="rect">
              <a:avLst/>
            </a:prstGeom>
            <a:noFill/>
            <a:ln/>
          </p:spPr>
          <p:txBody>
            <a:bodyPr wrap="square" rtlCol="0" anchor="ctr">
              <a:normAutofit/>
            </a:bodyPr>
            <a:lstStyle/>
            <a:p>
              <a:pPr algn="ctr"/>
              <a:r>
                <a:rPr 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alibri" pitchFamily="34" charset="-120"/>
                </a:rPr>
                <a:t>Data Collection</a:t>
              </a:r>
              <a:endParaRPr 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Shape 6">
              <a:extLst>
                <a:ext uri="{FF2B5EF4-FFF2-40B4-BE49-F238E27FC236}">
                  <a16:creationId xmlns:a16="http://schemas.microsoft.com/office/drawing/2014/main" id="{4C35C34B-51A8-982A-BAEC-5B65D9AE5E41}"/>
                </a:ext>
              </a:extLst>
            </p:cNvPr>
            <p:cNvSpPr/>
            <p:nvPr/>
          </p:nvSpPr>
          <p:spPr>
            <a:xfrm>
              <a:off x="2601491" y="3745345"/>
              <a:ext cx="349450" cy="0"/>
            </a:xfrm>
            <a:prstGeom prst="line">
              <a:avLst/>
            </a:prstGeom>
            <a:noFill/>
            <a:ln w="25400">
              <a:solidFill>
                <a:srgbClr val="94A3B8"/>
              </a:solidFill>
              <a:prstDash val="solid"/>
              <a:tailEnd type="triangle"/>
            </a:ln>
          </p:spPr>
        </p:sp>
      </p:grpSp>
      <p:grpSp>
        <p:nvGrpSpPr>
          <p:cNvPr id="80" name="组合 79">
            <a:extLst>
              <a:ext uri="{FF2B5EF4-FFF2-40B4-BE49-F238E27FC236}">
                <a16:creationId xmlns:a16="http://schemas.microsoft.com/office/drawing/2014/main" id="{364C09E5-425E-00BA-E539-0F483C152CB9}"/>
              </a:ext>
            </a:extLst>
          </p:cNvPr>
          <p:cNvGrpSpPr/>
          <p:nvPr/>
        </p:nvGrpSpPr>
        <p:grpSpPr>
          <a:xfrm>
            <a:off x="2838576" y="1828801"/>
            <a:ext cx="2332883" cy="4266184"/>
            <a:chOff x="2950943" y="2253671"/>
            <a:chExt cx="2213187" cy="2983347"/>
          </a:xfrm>
        </p:grpSpPr>
        <p:sp>
          <p:nvSpPr>
            <p:cNvPr id="31" name="Shape 7">
              <a:extLst>
                <a:ext uri="{FF2B5EF4-FFF2-40B4-BE49-F238E27FC236}">
                  <a16:creationId xmlns:a16="http://schemas.microsoft.com/office/drawing/2014/main" id="{2B706C50-74AC-492D-9531-EDDE7DE032BB}"/>
                </a:ext>
              </a:extLst>
            </p:cNvPr>
            <p:cNvSpPr/>
            <p:nvPr/>
          </p:nvSpPr>
          <p:spPr>
            <a:xfrm>
              <a:off x="2950943" y="2253671"/>
              <a:ext cx="1863737" cy="2983347"/>
            </a:xfrm>
            <a:prstGeom prst="roundRect">
              <a:avLst>
                <a:gd name="adj" fmla="val 9375"/>
              </a:avLst>
            </a:prstGeom>
            <a:solidFill>
              <a:srgbClr val="8B5CF6"/>
            </a:solidFill>
            <a:ln/>
          </p:spPr>
        </p:sp>
        <p:sp>
          <p:nvSpPr>
            <p:cNvPr id="33" name="Text 9">
              <a:extLst>
                <a:ext uri="{FF2B5EF4-FFF2-40B4-BE49-F238E27FC236}">
                  <a16:creationId xmlns:a16="http://schemas.microsoft.com/office/drawing/2014/main" id="{0C7C04E6-023D-5E54-799A-F94FD00718CD}"/>
                </a:ext>
              </a:extLst>
            </p:cNvPr>
            <p:cNvSpPr/>
            <p:nvPr/>
          </p:nvSpPr>
          <p:spPr>
            <a:xfrm>
              <a:off x="2950943" y="2863901"/>
              <a:ext cx="1863737" cy="542426"/>
            </a:xfrm>
            <a:prstGeom prst="rect">
              <a:avLst/>
            </a:prstGeom>
            <a:noFill/>
            <a:ln/>
          </p:spPr>
          <p:txBody>
            <a:bodyPr wrap="square" rtlCol="0" anchor="ctr">
              <a:normAutofit/>
            </a:bodyPr>
            <a:lstStyle/>
            <a:p>
              <a:pPr algn="ctr"/>
              <a:r>
                <a:rPr lang="en-US" sz="28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alibri" pitchFamily="34" charset="-120"/>
                </a:rPr>
                <a:t>数据清洗</a:t>
              </a:r>
              <a:endParaRPr 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" name="Text 10">
              <a:extLst>
                <a:ext uri="{FF2B5EF4-FFF2-40B4-BE49-F238E27FC236}">
                  <a16:creationId xmlns:a16="http://schemas.microsoft.com/office/drawing/2014/main" id="{55B972AC-46C1-C8D8-EF43-DE5091784ED5}"/>
                </a:ext>
              </a:extLst>
            </p:cNvPr>
            <p:cNvSpPr/>
            <p:nvPr/>
          </p:nvSpPr>
          <p:spPr>
            <a:xfrm>
              <a:off x="2950943" y="4016558"/>
              <a:ext cx="1863737" cy="881444"/>
            </a:xfrm>
            <a:prstGeom prst="rect">
              <a:avLst/>
            </a:prstGeom>
            <a:noFill/>
            <a:ln/>
          </p:spPr>
          <p:txBody>
            <a:bodyPr wrap="square" rtlCol="0" anchor="ctr">
              <a:normAutofit/>
            </a:bodyPr>
            <a:lstStyle/>
            <a:p>
              <a:pPr algn="ctr"/>
              <a:r>
                <a:rPr 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alibri" pitchFamily="34" charset="-120"/>
                </a:rPr>
                <a:t>Data Cleaning</a:t>
              </a:r>
              <a:endParaRPr 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" name="Shape 11">
              <a:extLst>
                <a:ext uri="{FF2B5EF4-FFF2-40B4-BE49-F238E27FC236}">
                  <a16:creationId xmlns:a16="http://schemas.microsoft.com/office/drawing/2014/main" id="{1FE65764-C181-3614-48B6-6A25D648E366}"/>
                </a:ext>
              </a:extLst>
            </p:cNvPr>
            <p:cNvSpPr/>
            <p:nvPr/>
          </p:nvSpPr>
          <p:spPr>
            <a:xfrm>
              <a:off x="4814680" y="3745345"/>
              <a:ext cx="349450" cy="0"/>
            </a:xfrm>
            <a:prstGeom prst="line">
              <a:avLst/>
            </a:prstGeom>
            <a:noFill/>
            <a:ln w="25400">
              <a:solidFill>
                <a:srgbClr val="94A3B8"/>
              </a:solidFill>
              <a:prstDash val="solid"/>
              <a:tailEnd type="triangle"/>
            </a:ln>
          </p:spPr>
        </p:sp>
      </p:grpSp>
      <p:grpSp>
        <p:nvGrpSpPr>
          <p:cNvPr id="81" name="组合 80">
            <a:extLst>
              <a:ext uri="{FF2B5EF4-FFF2-40B4-BE49-F238E27FC236}">
                <a16:creationId xmlns:a16="http://schemas.microsoft.com/office/drawing/2014/main" id="{B58BCEF1-CDA3-2AF4-2AD3-61FEAFFF8F62}"/>
              </a:ext>
            </a:extLst>
          </p:cNvPr>
          <p:cNvGrpSpPr/>
          <p:nvPr/>
        </p:nvGrpSpPr>
        <p:grpSpPr>
          <a:xfrm>
            <a:off x="5171460" y="1828801"/>
            <a:ext cx="2332885" cy="4266184"/>
            <a:chOff x="5164130" y="2253671"/>
            <a:chExt cx="2213189" cy="2983347"/>
          </a:xfrm>
        </p:grpSpPr>
        <p:sp>
          <p:nvSpPr>
            <p:cNvPr id="36" name="Shape 12">
              <a:extLst>
                <a:ext uri="{FF2B5EF4-FFF2-40B4-BE49-F238E27FC236}">
                  <a16:creationId xmlns:a16="http://schemas.microsoft.com/office/drawing/2014/main" id="{D8E243DA-7692-388E-8443-7E80F98A52EE}"/>
                </a:ext>
              </a:extLst>
            </p:cNvPr>
            <p:cNvSpPr/>
            <p:nvPr/>
          </p:nvSpPr>
          <p:spPr>
            <a:xfrm>
              <a:off x="5164130" y="2253671"/>
              <a:ext cx="1863737" cy="2983347"/>
            </a:xfrm>
            <a:prstGeom prst="roundRect">
              <a:avLst>
                <a:gd name="adj" fmla="val 9375"/>
              </a:avLst>
            </a:prstGeom>
            <a:solidFill>
              <a:srgbClr val="EC4899"/>
            </a:solidFill>
            <a:ln/>
          </p:spPr>
        </p:sp>
        <p:sp>
          <p:nvSpPr>
            <p:cNvPr id="38" name="Text 14">
              <a:extLst>
                <a:ext uri="{FF2B5EF4-FFF2-40B4-BE49-F238E27FC236}">
                  <a16:creationId xmlns:a16="http://schemas.microsoft.com/office/drawing/2014/main" id="{79BD1417-7109-08B5-F183-139A01C2D8E5}"/>
                </a:ext>
              </a:extLst>
            </p:cNvPr>
            <p:cNvSpPr/>
            <p:nvPr/>
          </p:nvSpPr>
          <p:spPr>
            <a:xfrm>
              <a:off x="5164130" y="2863901"/>
              <a:ext cx="1863737" cy="542426"/>
            </a:xfrm>
            <a:prstGeom prst="rect">
              <a:avLst/>
            </a:prstGeom>
            <a:noFill/>
            <a:ln/>
          </p:spPr>
          <p:txBody>
            <a:bodyPr wrap="square" rtlCol="0" anchor="ctr">
              <a:normAutofit/>
            </a:bodyPr>
            <a:lstStyle/>
            <a:p>
              <a:pPr algn="ctr"/>
              <a:r>
                <a:rPr lang="en-US" sz="28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alibri" pitchFamily="34" charset="-120"/>
                </a:rPr>
                <a:t>数据标注</a:t>
              </a:r>
              <a:endParaRPr 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Text 15">
              <a:extLst>
                <a:ext uri="{FF2B5EF4-FFF2-40B4-BE49-F238E27FC236}">
                  <a16:creationId xmlns:a16="http://schemas.microsoft.com/office/drawing/2014/main" id="{FAE4F317-1282-FF10-A8A3-556F587B36B3}"/>
                </a:ext>
              </a:extLst>
            </p:cNvPr>
            <p:cNvSpPr/>
            <p:nvPr/>
          </p:nvSpPr>
          <p:spPr>
            <a:xfrm>
              <a:off x="5164130" y="4016558"/>
              <a:ext cx="1863737" cy="881444"/>
            </a:xfrm>
            <a:prstGeom prst="rect">
              <a:avLst/>
            </a:prstGeom>
            <a:noFill/>
            <a:ln/>
          </p:spPr>
          <p:txBody>
            <a:bodyPr wrap="square" rtlCol="0" anchor="ctr">
              <a:normAutofit/>
            </a:bodyPr>
            <a:lstStyle/>
            <a:p>
              <a:pPr algn="ctr"/>
              <a:r>
                <a:rPr 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alibri" pitchFamily="34" charset="-120"/>
                </a:rPr>
                <a:t>Data Annotation</a:t>
              </a:r>
              <a:endParaRPr 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" name="Shape 16">
              <a:extLst>
                <a:ext uri="{FF2B5EF4-FFF2-40B4-BE49-F238E27FC236}">
                  <a16:creationId xmlns:a16="http://schemas.microsoft.com/office/drawing/2014/main" id="{A979C65D-1ED9-3DC1-0FA6-532E7C88E8D7}"/>
                </a:ext>
              </a:extLst>
            </p:cNvPr>
            <p:cNvSpPr/>
            <p:nvPr/>
          </p:nvSpPr>
          <p:spPr>
            <a:xfrm>
              <a:off x="7027869" y="3745345"/>
              <a:ext cx="349450" cy="0"/>
            </a:xfrm>
            <a:prstGeom prst="line">
              <a:avLst/>
            </a:prstGeom>
            <a:noFill/>
            <a:ln w="25400">
              <a:solidFill>
                <a:srgbClr val="94A3B8"/>
              </a:solidFill>
              <a:prstDash val="solid"/>
              <a:tailEnd type="triangle"/>
            </a:ln>
          </p:spPr>
        </p:sp>
      </p:grpSp>
      <p:grpSp>
        <p:nvGrpSpPr>
          <p:cNvPr id="82" name="组合 81">
            <a:extLst>
              <a:ext uri="{FF2B5EF4-FFF2-40B4-BE49-F238E27FC236}">
                <a16:creationId xmlns:a16="http://schemas.microsoft.com/office/drawing/2014/main" id="{9B040D3B-319F-2B24-36B4-2F56ED49F3CB}"/>
              </a:ext>
            </a:extLst>
          </p:cNvPr>
          <p:cNvGrpSpPr/>
          <p:nvPr/>
        </p:nvGrpSpPr>
        <p:grpSpPr>
          <a:xfrm>
            <a:off x="7504345" y="1828801"/>
            <a:ext cx="2332883" cy="4266184"/>
            <a:chOff x="7377319" y="2253671"/>
            <a:chExt cx="2213187" cy="2983347"/>
          </a:xfrm>
        </p:grpSpPr>
        <p:sp>
          <p:nvSpPr>
            <p:cNvPr id="41" name="Shape 17">
              <a:extLst>
                <a:ext uri="{FF2B5EF4-FFF2-40B4-BE49-F238E27FC236}">
                  <a16:creationId xmlns:a16="http://schemas.microsoft.com/office/drawing/2014/main" id="{968DE899-30AD-20C0-FFC3-26586D1DB923}"/>
                </a:ext>
              </a:extLst>
            </p:cNvPr>
            <p:cNvSpPr/>
            <p:nvPr/>
          </p:nvSpPr>
          <p:spPr>
            <a:xfrm>
              <a:off x="7377319" y="2253671"/>
              <a:ext cx="1863737" cy="2983347"/>
            </a:xfrm>
            <a:prstGeom prst="roundRect">
              <a:avLst>
                <a:gd name="adj" fmla="val 9375"/>
              </a:avLst>
            </a:prstGeom>
            <a:solidFill>
              <a:srgbClr val="F59E0B"/>
            </a:solidFill>
            <a:ln/>
          </p:spPr>
        </p:sp>
        <p:sp>
          <p:nvSpPr>
            <p:cNvPr id="43" name="Text 19">
              <a:extLst>
                <a:ext uri="{FF2B5EF4-FFF2-40B4-BE49-F238E27FC236}">
                  <a16:creationId xmlns:a16="http://schemas.microsoft.com/office/drawing/2014/main" id="{9F536BE9-F9B5-A8BC-3ED6-A39D512B1814}"/>
                </a:ext>
              </a:extLst>
            </p:cNvPr>
            <p:cNvSpPr/>
            <p:nvPr/>
          </p:nvSpPr>
          <p:spPr>
            <a:xfrm>
              <a:off x="7377319" y="2863901"/>
              <a:ext cx="1863737" cy="542426"/>
            </a:xfrm>
            <a:prstGeom prst="rect">
              <a:avLst/>
            </a:prstGeom>
            <a:noFill/>
            <a:ln/>
          </p:spPr>
          <p:txBody>
            <a:bodyPr wrap="square" rtlCol="0" anchor="ctr">
              <a:normAutofit/>
            </a:bodyPr>
            <a:lstStyle/>
            <a:p>
              <a:pPr algn="ctr"/>
              <a:r>
                <a:rPr lang="en-US" sz="28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alibri" pitchFamily="34" charset="-120"/>
                </a:rPr>
                <a:t>模型训练</a:t>
              </a:r>
              <a:endParaRPr 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4" name="Text 20">
              <a:extLst>
                <a:ext uri="{FF2B5EF4-FFF2-40B4-BE49-F238E27FC236}">
                  <a16:creationId xmlns:a16="http://schemas.microsoft.com/office/drawing/2014/main" id="{FBF6930B-AB89-BEC6-D1E0-FE4FE93A93B6}"/>
                </a:ext>
              </a:extLst>
            </p:cNvPr>
            <p:cNvSpPr/>
            <p:nvPr/>
          </p:nvSpPr>
          <p:spPr>
            <a:xfrm>
              <a:off x="7377319" y="4016558"/>
              <a:ext cx="1863737" cy="881444"/>
            </a:xfrm>
            <a:prstGeom prst="rect">
              <a:avLst/>
            </a:prstGeom>
            <a:noFill/>
            <a:ln/>
          </p:spPr>
          <p:txBody>
            <a:bodyPr wrap="square" rtlCol="0" anchor="ctr">
              <a:normAutofit/>
            </a:bodyPr>
            <a:lstStyle/>
            <a:p>
              <a:pPr algn="ctr"/>
              <a:r>
                <a:rPr 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alibri" pitchFamily="34" charset="-120"/>
                </a:rPr>
                <a:t>Model Training</a:t>
              </a:r>
              <a:endParaRPr 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5" name="Shape 21">
              <a:extLst>
                <a:ext uri="{FF2B5EF4-FFF2-40B4-BE49-F238E27FC236}">
                  <a16:creationId xmlns:a16="http://schemas.microsoft.com/office/drawing/2014/main" id="{25686BBF-ACEB-55BA-D297-4D84375EAFB1}"/>
                </a:ext>
              </a:extLst>
            </p:cNvPr>
            <p:cNvSpPr/>
            <p:nvPr/>
          </p:nvSpPr>
          <p:spPr>
            <a:xfrm>
              <a:off x="9241056" y="3745345"/>
              <a:ext cx="349450" cy="0"/>
            </a:xfrm>
            <a:prstGeom prst="line">
              <a:avLst/>
            </a:prstGeom>
            <a:noFill/>
            <a:ln w="25400">
              <a:solidFill>
                <a:srgbClr val="94A3B8"/>
              </a:solidFill>
              <a:prstDash val="solid"/>
              <a:tailEnd type="triangle"/>
            </a:ln>
          </p:spPr>
        </p:sp>
      </p:grpSp>
      <p:grpSp>
        <p:nvGrpSpPr>
          <p:cNvPr id="83" name="组合 82">
            <a:extLst>
              <a:ext uri="{FF2B5EF4-FFF2-40B4-BE49-F238E27FC236}">
                <a16:creationId xmlns:a16="http://schemas.microsoft.com/office/drawing/2014/main" id="{D740B51A-06C0-84CA-541F-59846C0131A4}"/>
              </a:ext>
            </a:extLst>
          </p:cNvPr>
          <p:cNvGrpSpPr/>
          <p:nvPr/>
        </p:nvGrpSpPr>
        <p:grpSpPr>
          <a:xfrm>
            <a:off x="9837230" y="1828801"/>
            <a:ext cx="1964534" cy="4266184"/>
            <a:chOff x="9590508" y="2253671"/>
            <a:chExt cx="1863737" cy="2983347"/>
          </a:xfrm>
        </p:grpSpPr>
        <p:sp>
          <p:nvSpPr>
            <p:cNvPr id="46" name="Shape 22">
              <a:extLst>
                <a:ext uri="{FF2B5EF4-FFF2-40B4-BE49-F238E27FC236}">
                  <a16:creationId xmlns:a16="http://schemas.microsoft.com/office/drawing/2014/main" id="{D1B36334-36FD-3356-0BBD-4AF1A106524D}"/>
                </a:ext>
              </a:extLst>
            </p:cNvPr>
            <p:cNvSpPr/>
            <p:nvPr/>
          </p:nvSpPr>
          <p:spPr>
            <a:xfrm>
              <a:off x="9590508" y="2253671"/>
              <a:ext cx="1863737" cy="2983347"/>
            </a:xfrm>
            <a:prstGeom prst="roundRect">
              <a:avLst>
                <a:gd name="adj" fmla="val 9375"/>
              </a:avLst>
            </a:prstGeom>
            <a:solidFill>
              <a:srgbClr val="10B981"/>
            </a:solidFill>
            <a:ln/>
          </p:spPr>
        </p:sp>
        <p:sp>
          <p:nvSpPr>
            <p:cNvPr id="48" name="Text 24">
              <a:extLst>
                <a:ext uri="{FF2B5EF4-FFF2-40B4-BE49-F238E27FC236}">
                  <a16:creationId xmlns:a16="http://schemas.microsoft.com/office/drawing/2014/main" id="{27CF09A3-BF94-F7C5-EBFC-B0173A30DC1E}"/>
                </a:ext>
              </a:extLst>
            </p:cNvPr>
            <p:cNvSpPr/>
            <p:nvPr/>
          </p:nvSpPr>
          <p:spPr>
            <a:xfrm>
              <a:off x="9590508" y="2863901"/>
              <a:ext cx="1863737" cy="542426"/>
            </a:xfrm>
            <a:prstGeom prst="rect">
              <a:avLst/>
            </a:prstGeom>
            <a:noFill/>
            <a:ln/>
          </p:spPr>
          <p:txBody>
            <a:bodyPr wrap="square" rtlCol="0" anchor="ctr">
              <a:normAutofit/>
            </a:bodyPr>
            <a:lstStyle/>
            <a:p>
              <a:pPr algn="ctr"/>
              <a:r>
                <a:rPr lang="en-US" sz="28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alibri" pitchFamily="34" charset="-120"/>
                </a:rPr>
                <a:t>模型测试</a:t>
              </a:r>
              <a:endParaRPr 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9" name="Text 25">
              <a:extLst>
                <a:ext uri="{FF2B5EF4-FFF2-40B4-BE49-F238E27FC236}">
                  <a16:creationId xmlns:a16="http://schemas.microsoft.com/office/drawing/2014/main" id="{FDAF4F26-7E26-D0C3-9238-131162BB6270}"/>
                </a:ext>
              </a:extLst>
            </p:cNvPr>
            <p:cNvSpPr/>
            <p:nvPr/>
          </p:nvSpPr>
          <p:spPr>
            <a:xfrm>
              <a:off x="9590508" y="4016558"/>
              <a:ext cx="1863737" cy="881444"/>
            </a:xfrm>
            <a:prstGeom prst="rect">
              <a:avLst/>
            </a:prstGeom>
            <a:noFill/>
            <a:ln/>
          </p:spPr>
          <p:txBody>
            <a:bodyPr wrap="square" rtlCol="0" anchor="ctr">
              <a:normAutofit/>
            </a:bodyPr>
            <a:lstStyle/>
            <a:p>
              <a:pPr algn="ctr"/>
              <a:r>
                <a:rPr 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alibri" pitchFamily="34" charset="-120"/>
                </a:rPr>
                <a:t>Model Testing</a:t>
              </a:r>
              <a:endParaRPr 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75" name="组合 74">
            <a:extLst>
              <a:ext uri="{FF2B5EF4-FFF2-40B4-BE49-F238E27FC236}">
                <a16:creationId xmlns:a16="http://schemas.microsoft.com/office/drawing/2014/main" id="{F50C927B-A122-C2A5-A111-55F50AC230E1}"/>
              </a:ext>
            </a:extLst>
          </p:cNvPr>
          <p:cNvGrpSpPr/>
          <p:nvPr/>
        </p:nvGrpSpPr>
        <p:grpSpPr>
          <a:xfrm>
            <a:off x="505691" y="962235"/>
            <a:ext cx="8875320" cy="369332"/>
            <a:chOff x="470561" y="949180"/>
            <a:chExt cx="8875320" cy="369332"/>
          </a:xfrm>
        </p:grpSpPr>
        <p:pic>
          <p:nvPicPr>
            <p:cNvPr id="76" name="图片 75">
              <a:extLst>
                <a:ext uri="{FF2B5EF4-FFF2-40B4-BE49-F238E27FC236}">
                  <a16:creationId xmlns:a16="http://schemas.microsoft.com/office/drawing/2014/main" id="{8348D4A2-6764-351B-C58D-5CB3AD0C2AA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0561" y="962396"/>
              <a:ext cx="342900" cy="342900"/>
            </a:xfrm>
            <a:prstGeom prst="rect">
              <a:avLst/>
            </a:prstGeom>
          </p:spPr>
        </p:pic>
        <p:sp>
          <p:nvSpPr>
            <p:cNvPr id="77" name="文本框 76">
              <a:extLst>
                <a:ext uri="{FF2B5EF4-FFF2-40B4-BE49-F238E27FC236}">
                  <a16:creationId xmlns:a16="http://schemas.microsoft.com/office/drawing/2014/main" id="{467F2758-F111-4BF2-5E2F-F9D03E403E6B}"/>
                </a:ext>
              </a:extLst>
            </p:cNvPr>
            <p:cNvSpPr txBox="1"/>
            <p:nvPr/>
          </p:nvSpPr>
          <p:spPr>
            <a:xfrm>
              <a:off x="813461" y="949180"/>
              <a:ext cx="8532420" cy="36933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zh-CN" altLang="en-US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模型训练流程 </a:t>
              </a:r>
              <a:r>
                <a:rPr lang="en-US" altLang="zh-CN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| Model training process</a:t>
              </a:r>
              <a:endPara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6275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01933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ECF99868-6AF7-C569-525E-1EF97C74C515}"/>
              </a:ext>
            </a:extLst>
          </p:cNvPr>
          <p:cNvGrpSpPr/>
          <p:nvPr/>
        </p:nvGrpSpPr>
        <p:grpSpPr>
          <a:xfrm>
            <a:off x="487219" y="786744"/>
            <a:ext cx="8875320" cy="369332"/>
            <a:chOff x="470561" y="949180"/>
            <a:chExt cx="8875320" cy="369332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F091A9E0-DF05-3DE0-2FDC-BB171C1BBE2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0561" y="962396"/>
              <a:ext cx="342900" cy="342900"/>
            </a:xfrm>
            <a:prstGeom prst="rect">
              <a:avLst/>
            </a:prstGeom>
          </p:spPr>
        </p:pic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1B3C4767-4704-4073-B3B1-C03F991E1607}"/>
                </a:ext>
              </a:extLst>
            </p:cNvPr>
            <p:cNvSpPr txBox="1"/>
            <p:nvPr/>
          </p:nvSpPr>
          <p:spPr>
            <a:xfrm>
              <a:off x="813461" y="949180"/>
              <a:ext cx="8532420" cy="36933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zh-CN" altLang="en-US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螺丝尺寸测试效果 </a:t>
              </a:r>
              <a:r>
                <a:rPr lang="en-US" altLang="zh-CN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| The test results</a:t>
              </a:r>
              <a:endPara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5C25ED80-3FC2-C5C5-F62C-AFD11EEF1589}"/>
              </a:ext>
            </a:extLst>
          </p:cNvPr>
          <p:cNvGrpSpPr/>
          <p:nvPr/>
        </p:nvGrpSpPr>
        <p:grpSpPr>
          <a:xfrm>
            <a:off x="830119" y="1509662"/>
            <a:ext cx="5110018" cy="4979076"/>
            <a:chOff x="726787" y="1583553"/>
            <a:chExt cx="5110018" cy="4979076"/>
          </a:xfrm>
        </p:grpSpPr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BFA32FA3-BAAE-4738-165D-6BDD9CE63B7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6787" y="1583553"/>
              <a:ext cx="5110018" cy="4374763"/>
            </a:xfrm>
            <a:prstGeom prst="rect">
              <a:avLst/>
            </a:prstGeom>
            <a:ln w="57150">
              <a:solidFill>
                <a:srgbClr val="FF0000"/>
              </a:solidFill>
            </a:ln>
          </p:spPr>
        </p:pic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B8257095-4598-5611-51B0-785FC31FDADD}"/>
                </a:ext>
              </a:extLst>
            </p:cNvPr>
            <p:cNvSpPr txBox="1"/>
            <p:nvPr/>
          </p:nvSpPr>
          <p:spPr>
            <a:xfrm>
              <a:off x="2238802" y="6162519"/>
              <a:ext cx="208598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Original image</a:t>
              </a:r>
              <a:endPara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5" name="右箭头 12">
            <a:extLst>
              <a:ext uri="{FF2B5EF4-FFF2-40B4-BE49-F238E27FC236}">
                <a16:creationId xmlns:a16="http://schemas.microsoft.com/office/drawing/2014/main" id="{4F2EBEAD-7F13-EC6B-A13A-4DD73F4327DE}"/>
              </a:ext>
            </a:extLst>
          </p:cNvPr>
          <p:cNvSpPr/>
          <p:nvPr/>
        </p:nvSpPr>
        <p:spPr>
          <a:xfrm>
            <a:off x="6132222" y="3355109"/>
            <a:ext cx="652613" cy="505904"/>
          </a:xfrm>
          <a:prstGeom prst="rightArrow">
            <a:avLst/>
          </a:prstGeom>
          <a:solidFill>
            <a:srgbClr val="43AB54"/>
          </a:solidFill>
          <a:ln>
            <a:solidFill>
              <a:srgbClr val="00B05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4659972E-FDDE-0E06-A1DB-DCE1CC6F48EF}"/>
              </a:ext>
            </a:extLst>
          </p:cNvPr>
          <p:cNvGrpSpPr/>
          <p:nvPr/>
        </p:nvGrpSpPr>
        <p:grpSpPr>
          <a:xfrm>
            <a:off x="6980254" y="1504716"/>
            <a:ext cx="4751660" cy="4984022"/>
            <a:chOff x="6876922" y="1578607"/>
            <a:chExt cx="4751660" cy="4984022"/>
          </a:xfrm>
        </p:grpSpPr>
        <p:pic>
          <p:nvPicPr>
            <p:cNvPr id="17" name="图片 16" descr="图片包含 脸, 桌子, 关, 屏幕&#10;&#10;描述已自动生成">
              <a:extLst>
                <a:ext uri="{FF2B5EF4-FFF2-40B4-BE49-F238E27FC236}">
                  <a16:creationId xmlns:a16="http://schemas.microsoft.com/office/drawing/2014/main" id="{8FDE993D-3C17-F868-DDB6-25D3B4888EB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76922" y="1578607"/>
              <a:ext cx="4751660" cy="4379709"/>
            </a:xfrm>
            <a:prstGeom prst="rect">
              <a:avLst/>
            </a:prstGeom>
            <a:ln w="57150">
              <a:solidFill>
                <a:srgbClr val="FF0000"/>
              </a:solidFill>
            </a:ln>
          </p:spPr>
        </p:pic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54766B7F-27B6-B4B2-3CEB-26AB5D61E514}"/>
                </a:ext>
              </a:extLst>
            </p:cNvPr>
            <p:cNvSpPr txBox="1"/>
            <p:nvPr/>
          </p:nvSpPr>
          <p:spPr>
            <a:xfrm>
              <a:off x="8092378" y="6162519"/>
              <a:ext cx="232074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Detected Image</a:t>
              </a:r>
              <a:endPara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56749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54541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8AEB8416-C35E-13A6-416F-9C71F1353425}"/>
              </a:ext>
            </a:extLst>
          </p:cNvPr>
          <p:cNvGrpSpPr/>
          <p:nvPr/>
        </p:nvGrpSpPr>
        <p:grpSpPr>
          <a:xfrm>
            <a:off x="496455" y="770311"/>
            <a:ext cx="11039764" cy="458908"/>
            <a:chOff x="470561" y="868092"/>
            <a:chExt cx="11039764" cy="458908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8222F1DD-D21B-67AB-0049-C88F34305AB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0561" y="962396"/>
              <a:ext cx="342900" cy="342900"/>
            </a:xfrm>
            <a:prstGeom prst="rect">
              <a:avLst/>
            </a:prstGeom>
          </p:spPr>
        </p:pic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A8F01702-9157-54CB-9916-C16E017D39CA}"/>
                </a:ext>
              </a:extLst>
            </p:cNvPr>
            <p:cNvSpPr txBox="1"/>
            <p:nvPr/>
          </p:nvSpPr>
          <p:spPr>
            <a:xfrm>
              <a:off x="813461" y="868092"/>
              <a:ext cx="10696864" cy="458908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Now that the screw size detection model has been trained, what can it be used for??</a:t>
              </a:r>
              <a:endPara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sp>
        <p:nvSpPr>
          <p:cNvPr id="7" name="文本框 6">
            <a:extLst>
              <a:ext uri="{FF2B5EF4-FFF2-40B4-BE49-F238E27FC236}">
                <a16:creationId xmlns:a16="http://schemas.microsoft.com/office/drawing/2014/main" id="{88071C0E-E11B-AC3F-26FF-CDBFDD228A98}"/>
              </a:ext>
            </a:extLst>
          </p:cNvPr>
          <p:cNvSpPr txBox="1"/>
          <p:nvPr/>
        </p:nvSpPr>
        <p:spPr>
          <a:xfrm>
            <a:off x="839355" y="2836197"/>
            <a:ext cx="3423286" cy="175595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="" xmlns:wpsdc="http://www.wps.cn/officeDocument/2022/drawingmlCustomData" type="text"/>
              </a:ext>
            </a:extLst>
          </a:bodyPr>
          <a:lstStyle/>
          <a:p>
            <a:pPr algn="l"/>
            <a:r>
              <a:rPr lang="en-US" altLang="zh-CN" sz="8800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Demo</a:t>
            </a:r>
          </a:p>
        </p:txBody>
      </p:sp>
      <p:pic>
        <p:nvPicPr>
          <p:cNvPr id="8" name="图片 7" descr="图片包含 室内, 橙子, 小, 关&#10;&#10;描述已自动生成">
            <a:extLst>
              <a:ext uri="{FF2B5EF4-FFF2-40B4-BE49-F238E27FC236}">
                <a16:creationId xmlns:a16="http://schemas.microsoft.com/office/drawing/2014/main" id="{159005DF-4D3E-4813-A53C-8CA1279EF5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1260" y="1383145"/>
            <a:ext cx="7014959" cy="5261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716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08759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7227963C-4AE1-993B-4B21-7C08DD03AA6C}"/>
              </a:ext>
            </a:extLst>
          </p:cNvPr>
          <p:cNvGrpSpPr/>
          <p:nvPr/>
        </p:nvGrpSpPr>
        <p:grpSpPr>
          <a:xfrm>
            <a:off x="505691" y="859443"/>
            <a:ext cx="11180618" cy="458908"/>
            <a:chOff x="470561" y="846388"/>
            <a:chExt cx="11180618" cy="458908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B65B27C3-12E3-6B42-F4F0-8608435FADF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0561" y="962396"/>
              <a:ext cx="342900" cy="342900"/>
            </a:xfrm>
            <a:prstGeom prst="rect">
              <a:avLst/>
            </a:prstGeom>
          </p:spPr>
        </p:pic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3FAAE8F1-7F27-E3CE-3E34-48E7AD2041DF}"/>
                </a:ext>
              </a:extLst>
            </p:cNvPr>
            <p:cNvSpPr txBox="1"/>
            <p:nvPr/>
          </p:nvSpPr>
          <p:spPr>
            <a:xfrm>
              <a:off x="813461" y="846388"/>
              <a:ext cx="10837718" cy="458908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Python</a:t>
              </a:r>
              <a:r>
                <a:rPr lang="zh-CN" altLang="en-US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 编程 </a:t>
              </a:r>
              <a:r>
                <a:rPr lang="en-US" altLang="zh-CN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| Python</a:t>
              </a:r>
              <a:r>
                <a:rPr lang="zh-CN" altLang="en-US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：</a:t>
              </a:r>
              <a:r>
                <a:rPr lang="en-US" altLang="zh-CN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A programming language</a:t>
              </a:r>
              <a:endPara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A56E98A2-3539-5EB0-7DC3-D6B68B889BDA}"/>
              </a:ext>
            </a:extLst>
          </p:cNvPr>
          <p:cNvGrpSpPr/>
          <p:nvPr/>
        </p:nvGrpSpPr>
        <p:grpSpPr>
          <a:xfrm>
            <a:off x="848591" y="6009970"/>
            <a:ext cx="10747168" cy="418191"/>
            <a:chOff x="825336" y="2707204"/>
            <a:chExt cx="10747168" cy="418191"/>
          </a:xfrm>
        </p:grpSpPr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FCA1F2CD-665D-08D6-65AE-A0E5FC574977}"/>
                </a:ext>
              </a:extLst>
            </p:cNvPr>
            <p:cNvSpPr txBox="1"/>
            <p:nvPr/>
          </p:nvSpPr>
          <p:spPr>
            <a:xfrm>
              <a:off x="1126319" y="2707204"/>
              <a:ext cx="10446185" cy="418191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600" dirty="0">
                  <a:solidFill>
                    <a:srgbClr val="2152A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TIOBE</a:t>
              </a:r>
              <a:r>
                <a:rPr lang="zh-CN" altLang="en-US" sz="1600" dirty="0">
                  <a:solidFill>
                    <a:srgbClr val="2152A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官网 </a:t>
              </a:r>
              <a:r>
                <a:rPr lang="en-US" altLang="zh-CN" sz="1600" dirty="0">
                  <a:solidFill>
                    <a:srgbClr val="2152A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| TIOBE website</a:t>
              </a:r>
              <a:r>
                <a:rPr lang="zh-CN" altLang="en-US" sz="1600" dirty="0">
                  <a:solidFill>
                    <a:srgbClr val="2152A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：</a:t>
              </a:r>
              <a:r>
                <a:rPr lang="en-US" altLang="zh-CN" sz="1600" dirty="0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https://www.tiobe.com/tiobe-index</a:t>
              </a:r>
            </a:p>
          </p:txBody>
        </p:sp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365DE046-9511-3094-3A2B-28C695A5092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5336" y="2799983"/>
              <a:ext cx="300983" cy="300983"/>
            </a:xfrm>
            <a:prstGeom prst="rect">
              <a:avLst/>
            </a:prstGeom>
          </p:spPr>
        </p:pic>
      </p:grpSp>
      <p:pic>
        <p:nvPicPr>
          <p:cNvPr id="10" name="图片 9" descr="图形用户界面&#10;&#10;描述已自动生成">
            <a:extLst>
              <a:ext uri="{FF2B5EF4-FFF2-40B4-BE49-F238E27FC236}">
                <a16:creationId xmlns:a16="http://schemas.microsoft.com/office/drawing/2014/main" id="{A06B0199-FD6A-B340-A5BB-B10A70EA723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591" y="2914507"/>
            <a:ext cx="10353387" cy="2755883"/>
          </a:xfrm>
          <a:prstGeom prst="rect">
            <a:avLst/>
          </a:prstGeom>
        </p:spPr>
      </p:pic>
      <p:grpSp>
        <p:nvGrpSpPr>
          <p:cNvPr id="15" name="组合 14">
            <a:extLst>
              <a:ext uri="{FF2B5EF4-FFF2-40B4-BE49-F238E27FC236}">
                <a16:creationId xmlns:a16="http://schemas.microsoft.com/office/drawing/2014/main" id="{449D3217-1B3C-8DE9-63C4-931D4C136114}"/>
              </a:ext>
            </a:extLst>
          </p:cNvPr>
          <p:cNvGrpSpPr/>
          <p:nvPr/>
        </p:nvGrpSpPr>
        <p:grpSpPr>
          <a:xfrm>
            <a:off x="872907" y="1659286"/>
            <a:ext cx="10099893" cy="914286"/>
            <a:chOff x="872907" y="1599308"/>
            <a:chExt cx="10099893" cy="914286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AFC2A716-DE40-FCC8-8B33-22728ADD2FC3}"/>
                </a:ext>
              </a:extLst>
            </p:cNvPr>
            <p:cNvSpPr txBox="1"/>
            <p:nvPr/>
          </p:nvSpPr>
          <p:spPr>
            <a:xfrm>
              <a:off x="4073485" y="1640952"/>
              <a:ext cx="6899315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400" b="1" dirty="0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Python is a very popular programming language for AI</a:t>
              </a:r>
              <a:endParaRPr lang="zh-CN" altLang="en-US" sz="2400" b="1" dirty="0">
                <a:solidFill>
                  <a:srgbClr val="FF0000"/>
                </a:solidFill>
              </a:endParaRPr>
            </a:p>
          </p:txBody>
        </p:sp>
        <p:pic>
          <p:nvPicPr>
            <p:cNvPr id="14" name="图片 13" descr="徽标&#10;&#10;中度可信度描述已自动生成">
              <a:extLst>
                <a:ext uri="{FF2B5EF4-FFF2-40B4-BE49-F238E27FC236}">
                  <a16:creationId xmlns:a16="http://schemas.microsoft.com/office/drawing/2014/main" id="{1A943F7C-8F5F-04F0-733C-775E01E041B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2907" y="1599308"/>
              <a:ext cx="2742857" cy="91428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09061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7227963C-4AE1-993B-4B21-7C08DD03AA6C}"/>
              </a:ext>
            </a:extLst>
          </p:cNvPr>
          <p:cNvGrpSpPr/>
          <p:nvPr/>
        </p:nvGrpSpPr>
        <p:grpSpPr>
          <a:xfrm>
            <a:off x="505691" y="859443"/>
            <a:ext cx="9875982" cy="458908"/>
            <a:chOff x="470561" y="846388"/>
            <a:chExt cx="9875982" cy="458908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B65B27C3-12E3-6B42-F4F0-8608435FADF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0561" y="962396"/>
              <a:ext cx="342900" cy="342900"/>
            </a:xfrm>
            <a:prstGeom prst="rect">
              <a:avLst/>
            </a:prstGeom>
          </p:spPr>
        </p:pic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3FAAE8F1-7F27-E3CE-3E34-48E7AD2041DF}"/>
                </a:ext>
              </a:extLst>
            </p:cNvPr>
            <p:cNvSpPr txBox="1"/>
            <p:nvPr/>
          </p:nvSpPr>
          <p:spPr>
            <a:xfrm>
              <a:off x="813461" y="846388"/>
              <a:ext cx="9533082" cy="458908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PyCharm</a:t>
              </a:r>
              <a:r>
                <a:rPr lang="zh-CN" altLang="en-US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集成开发环境 </a:t>
              </a:r>
              <a:r>
                <a:rPr lang="en-US" altLang="zh-CN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| PyCharm</a:t>
              </a:r>
              <a:r>
                <a:rPr lang="zh-CN" altLang="en-US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：</a:t>
              </a:r>
              <a:r>
                <a:rPr lang="en-US" altLang="zh-CN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 Used for Python programming and development</a:t>
              </a:r>
              <a:endPara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AE1B45AF-696D-6259-1A2F-3847D2ACAFAE}"/>
              </a:ext>
            </a:extLst>
          </p:cNvPr>
          <p:cNvGrpSpPr/>
          <p:nvPr/>
        </p:nvGrpSpPr>
        <p:grpSpPr>
          <a:xfrm>
            <a:off x="975830" y="1630478"/>
            <a:ext cx="10240339" cy="1054856"/>
            <a:chOff x="1070061" y="2088027"/>
            <a:chExt cx="10240339" cy="1054856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D8EDCC8F-ED1A-761D-03D7-D104863BD391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3252789" y="2088028"/>
              <a:ext cx="8057611" cy="105485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 lIns="0" tIns="0" rIns="0" bIns="0" rtlCol="0" anchor="t" anchorCtr="0">
              <a:noAutofit/>
            </a:bodyPr>
            <a:lstStyle/>
            <a:p>
              <a:pPr marL="7200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4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简要介绍：一种</a:t>
              </a:r>
              <a:r>
                <a:rPr lang="en-US" altLang="zh-CN" sz="14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Python </a:t>
              </a:r>
              <a:r>
                <a:rPr lang="en-US" altLang="zh-CN" sz="14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IDE</a:t>
              </a:r>
              <a:r>
                <a:rPr lang="zh-CN" altLang="en-US" sz="14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（</a:t>
              </a:r>
              <a:r>
                <a:rPr lang="en-US" altLang="zh-CN" sz="14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I</a:t>
              </a:r>
              <a:r>
                <a:rPr lang="en-US" altLang="zh-CN" sz="14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ntegrated </a:t>
              </a:r>
              <a:r>
                <a:rPr lang="en-US" altLang="zh-CN" sz="14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D</a:t>
              </a:r>
              <a:r>
                <a:rPr lang="en-US" altLang="zh-CN" sz="14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evelopment </a:t>
              </a:r>
              <a:r>
                <a:rPr lang="en-US" altLang="zh-CN" sz="14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E</a:t>
              </a:r>
              <a:r>
                <a:rPr lang="en-US" altLang="zh-CN" sz="14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nvironment</a:t>
              </a:r>
              <a:r>
                <a:rPr lang="zh-CN" altLang="en-US" sz="14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，</a:t>
              </a:r>
              <a:r>
                <a:rPr lang="zh-CN" altLang="en-US" sz="14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集成开发环境</a:t>
              </a:r>
              <a:r>
                <a:rPr lang="zh-CN" altLang="en-US" sz="14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），带有一整套开发时</a:t>
              </a:r>
              <a:r>
                <a:rPr lang="zh-CN" altLang="en-US" sz="14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提高效率的工具</a:t>
              </a:r>
              <a:r>
                <a:rPr lang="zh-CN" altLang="en-US" sz="14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，比如</a:t>
              </a:r>
              <a:r>
                <a:rPr lang="zh-CN" altLang="en-US" sz="14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调试</a:t>
              </a:r>
              <a:r>
                <a:rPr lang="zh-CN" altLang="en-US" sz="14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、</a:t>
              </a:r>
              <a:r>
                <a:rPr lang="zh-CN" altLang="en-US" sz="14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语法高亮</a:t>
              </a:r>
              <a:r>
                <a:rPr lang="zh-CN" altLang="en-US" sz="14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、</a:t>
              </a:r>
              <a:r>
                <a:rPr lang="zh-CN" altLang="en-US" sz="14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代码跳转</a:t>
              </a:r>
              <a:r>
                <a:rPr lang="zh-CN" altLang="en-US" sz="14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、</a:t>
              </a:r>
              <a:r>
                <a:rPr lang="zh-CN" altLang="en-US" sz="14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智能提示</a:t>
              </a:r>
              <a:r>
                <a:rPr lang="zh-CN" altLang="en-US" sz="14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、单元测试、版本控制等。</a:t>
              </a:r>
              <a:endParaRPr lang="en-US" altLang="zh-CN" sz="1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endParaRPr>
            </a:p>
            <a:p>
              <a:pPr marL="7200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4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官方网址：</a:t>
              </a:r>
              <a:r>
                <a:rPr lang="en-US" altLang="zh-CN" sz="14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https://www.jetbrains.com.cn/en-us/pycharm/</a:t>
              </a:r>
              <a:endParaRPr lang="zh-CN" altLang="en-US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11" name="Title-1">
              <a:extLst>
                <a:ext uri="{FF2B5EF4-FFF2-40B4-BE49-F238E27FC236}">
                  <a16:creationId xmlns:a16="http://schemas.microsoft.com/office/drawing/2014/main" id="{9220CE85-B3AC-2578-88FC-7A225D77F1F7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1070061" y="2088027"/>
              <a:ext cx="1991368" cy="1054856"/>
            </a:xfrm>
            <a:prstGeom prst="roundRect">
              <a:avLst>
                <a:gd name="adj" fmla="val 0"/>
              </a:avLst>
            </a:prstGeom>
            <a:gradFill>
              <a:gsLst>
                <a:gs pos="0">
                  <a:srgbClr val="27D492"/>
                </a:gs>
                <a:gs pos="100000">
                  <a:srgbClr val="F9EE40"/>
                </a:gs>
              </a:gsLst>
              <a:lin ang="0" scaled="0"/>
            </a:gradFill>
            <a:ln w="12700" cap="rnd">
              <a:noFill/>
              <a:prstDash val="solid"/>
              <a:round/>
              <a:headEnd/>
              <a:tailEnd/>
            </a:ln>
            <a:effectLst>
              <a:outerShdw blurRad="254000" dist="127000" algn="ctr" rotWithShape="0">
                <a:schemeClr val="accent1">
                  <a:alpha val="3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 defTabSz="913765"/>
              <a:endPara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7517BF1F-1E02-A6E9-BB78-AD45A38C958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75411" y="2214748"/>
              <a:ext cx="782782" cy="782782"/>
            </a:xfrm>
            <a:prstGeom prst="rect">
              <a:avLst/>
            </a:prstGeom>
          </p:spPr>
        </p:pic>
      </p:grpSp>
      <p:pic>
        <p:nvPicPr>
          <p:cNvPr id="38" name="图片 37" descr="电子设备的屏幕&#10;&#10;描述已自动生成">
            <a:extLst>
              <a:ext uri="{FF2B5EF4-FFF2-40B4-BE49-F238E27FC236}">
                <a16:creationId xmlns:a16="http://schemas.microsoft.com/office/drawing/2014/main" id="{797BD0DC-31D2-8565-7287-70D32BF99BB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830" y="2905097"/>
            <a:ext cx="8174182" cy="3574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069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7227963C-4AE1-993B-4B21-7C08DD03AA6C}"/>
              </a:ext>
            </a:extLst>
          </p:cNvPr>
          <p:cNvGrpSpPr/>
          <p:nvPr/>
        </p:nvGrpSpPr>
        <p:grpSpPr>
          <a:xfrm>
            <a:off x="484423" y="1143969"/>
            <a:ext cx="4144515" cy="3905043"/>
            <a:chOff x="470561" y="780215"/>
            <a:chExt cx="4144515" cy="3905043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B65B27C3-12E3-6B42-F4F0-8608435FADF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0561" y="962396"/>
              <a:ext cx="342900" cy="342900"/>
            </a:xfrm>
            <a:prstGeom prst="rect">
              <a:avLst/>
            </a:prstGeom>
          </p:spPr>
        </p:pic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3FAAE8F1-7F27-E3CE-3E34-48E7AD2041DF}"/>
                </a:ext>
              </a:extLst>
            </p:cNvPr>
            <p:cNvSpPr txBox="1"/>
            <p:nvPr/>
          </p:nvSpPr>
          <p:spPr>
            <a:xfrm>
              <a:off x="813461" y="780215"/>
              <a:ext cx="3801615" cy="390504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2400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单张图片中不同尺寸螺丝数量统计功能编程 </a:t>
              </a:r>
              <a:r>
                <a:rPr lang="en-US" altLang="zh-CN" sz="2400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| </a:t>
              </a:r>
              <a:r>
                <a:rPr lang="en-US" altLang="zh-CN" sz="2400" dirty="0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Programming Implementation of a Counting Function for Screws of Different Sizes in a Single Image</a:t>
              </a:r>
              <a:endPara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pic>
        <p:nvPicPr>
          <p:cNvPr id="7" name="图片 6" descr="图片包含 室内, 橙子, 小, 关&#10;&#10;描述已自动生成">
            <a:extLst>
              <a:ext uri="{FF2B5EF4-FFF2-40B4-BE49-F238E27FC236}">
                <a16:creationId xmlns:a16="http://schemas.microsoft.com/office/drawing/2014/main" id="{A31811C0-2C01-EE32-B40C-4591893CF9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8328" y="1143969"/>
            <a:ext cx="6954982" cy="5216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6720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B7BA4-68CB-5954-CCE9-99A3019B0C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F78E6DF8-AA97-E9FF-38B2-5A58D656450C}"/>
              </a:ext>
            </a:extLst>
          </p:cNvPr>
          <p:cNvGrpSpPr/>
          <p:nvPr/>
        </p:nvGrpSpPr>
        <p:grpSpPr>
          <a:xfrm>
            <a:off x="505691" y="859443"/>
            <a:ext cx="9875982" cy="458908"/>
            <a:chOff x="470561" y="846388"/>
            <a:chExt cx="9875982" cy="458908"/>
          </a:xfrm>
        </p:grpSpPr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C4427B09-46F0-523E-1770-BE96B5B71D3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0561" y="962396"/>
              <a:ext cx="342900" cy="342900"/>
            </a:xfrm>
            <a:prstGeom prst="rect">
              <a:avLst/>
            </a:prstGeom>
          </p:spPr>
        </p:pic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1CC64798-1B1D-CAA9-1D22-BAE299F90B7F}"/>
                </a:ext>
              </a:extLst>
            </p:cNvPr>
            <p:cNvSpPr txBox="1"/>
            <p:nvPr/>
          </p:nvSpPr>
          <p:spPr>
            <a:xfrm>
              <a:off x="813461" y="846388"/>
              <a:ext cx="9533082" cy="458908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（</a:t>
              </a:r>
              <a:r>
                <a:rPr lang="en-US" altLang="zh-CN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1</a:t>
              </a:r>
              <a:r>
                <a:rPr lang="zh-CN" altLang="en-US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）图片显示 </a:t>
              </a:r>
              <a:r>
                <a:rPr lang="en-US" altLang="zh-CN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| Display the image </a:t>
              </a:r>
              <a:endPara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pic>
        <p:nvPicPr>
          <p:cNvPr id="3" name="图片 2" descr="电脑屏幕的截图&#10;&#10;描述已自动生成">
            <a:extLst>
              <a:ext uri="{FF2B5EF4-FFF2-40B4-BE49-F238E27FC236}">
                <a16:creationId xmlns:a16="http://schemas.microsoft.com/office/drawing/2014/main" id="{D3EE817C-0E8D-68C0-A7B3-2A956F49A80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052" y="1828549"/>
            <a:ext cx="10739895" cy="3953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938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54F27A-A351-0E25-D0C4-5EFB4DE330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0697AE04-16BD-598A-CF5A-76AD323E4D0C}"/>
              </a:ext>
            </a:extLst>
          </p:cNvPr>
          <p:cNvGrpSpPr/>
          <p:nvPr/>
        </p:nvGrpSpPr>
        <p:grpSpPr>
          <a:xfrm>
            <a:off x="514927" y="785552"/>
            <a:ext cx="9875982" cy="458908"/>
            <a:chOff x="470561" y="846388"/>
            <a:chExt cx="9875982" cy="458908"/>
          </a:xfrm>
        </p:grpSpPr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FE2FE09A-F01A-72A2-6C3A-07662CA4145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0561" y="962396"/>
              <a:ext cx="342900" cy="342900"/>
            </a:xfrm>
            <a:prstGeom prst="rect">
              <a:avLst/>
            </a:prstGeom>
          </p:spPr>
        </p:pic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E72AA920-548C-CDBA-7C1D-A725895868C4}"/>
                </a:ext>
              </a:extLst>
            </p:cNvPr>
            <p:cNvSpPr txBox="1"/>
            <p:nvPr/>
          </p:nvSpPr>
          <p:spPr>
            <a:xfrm>
              <a:off x="813461" y="846388"/>
              <a:ext cx="9533082" cy="458908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（</a:t>
              </a:r>
              <a:r>
                <a:rPr lang="en-US" altLang="zh-CN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1</a:t>
              </a:r>
              <a:r>
                <a:rPr lang="zh-CN" altLang="en-US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）图片显示 </a:t>
              </a:r>
              <a:r>
                <a:rPr lang="en-US" altLang="zh-CN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| Display the image </a:t>
              </a:r>
              <a:endPara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pic>
        <p:nvPicPr>
          <p:cNvPr id="4" name="图片 3" descr="图片包含 杯子, 照片, 橙子, 桌子&#10;&#10;描述已自动生成">
            <a:extLst>
              <a:ext uri="{FF2B5EF4-FFF2-40B4-BE49-F238E27FC236}">
                <a16:creationId xmlns:a16="http://schemas.microsoft.com/office/drawing/2014/main" id="{6D70A574-CD2D-EEB3-F2BF-1A7305E401A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0490" y="1439300"/>
            <a:ext cx="6372710" cy="5068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0188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DDA325-3E59-2AF7-8A86-B2A92605E6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C70D729A-3350-2EEA-2501-A62BF16CAFF5}"/>
              </a:ext>
            </a:extLst>
          </p:cNvPr>
          <p:cNvGrpSpPr/>
          <p:nvPr/>
        </p:nvGrpSpPr>
        <p:grpSpPr>
          <a:xfrm>
            <a:off x="505691" y="859443"/>
            <a:ext cx="10208430" cy="458908"/>
            <a:chOff x="470561" y="846388"/>
            <a:chExt cx="10208430" cy="458908"/>
          </a:xfrm>
        </p:grpSpPr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5033D2F6-914C-38A1-28B6-CF4F842E2FE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0561" y="962396"/>
              <a:ext cx="342900" cy="342900"/>
            </a:xfrm>
            <a:prstGeom prst="rect">
              <a:avLst/>
            </a:prstGeom>
          </p:spPr>
        </p:pic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3538B9E5-B650-48CD-127B-5B7875D375A6}"/>
                </a:ext>
              </a:extLst>
            </p:cNvPr>
            <p:cNvSpPr txBox="1"/>
            <p:nvPr/>
          </p:nvSpPr>
          <p:spPr>
            <a:xfrm>
              <a:off x="813461" y="846388"/>
              <a:ext cx="9865530" cy="458908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（</a:t>
              </a:r>
              <a:r>
                <a:rPr lang="en-US" altLang="zh-CN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2</a:t>
              </a:r>
              <a:r>
                <a:rPr lang="zh-CN" altLang="en-US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）螺丝尺寸目标检测 </a:t>
              </a:r>
              <a:r>
                <a:rPr lang="en-US" altLang="zh-CN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| Screw Size Object Detection</a:t>
              </a:r>
              <a:endPara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pic>
        <p:nvPicPr>
          <p:cNvPr id="3" name="图片 2" descr="文本&#10;&#10;描述已自动生成">
            <a:extLst>
              <a:ext uri="{FF2B5EF4-FFF2-40B4-BE49-F238E27FC236}">
                <a16:creationId xmlns:a16="http://schemas.microsoft.com/office/drawing/2014/main" id="{8794885A-2FBB-8413-DF8D-8110B586BA7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591" y="1607290"/>
            <a:ext cx="9950296" cy="3047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7726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9AC1D2-0C06-E0C9-046B-DC6C6C18C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818DD44A-7093-2448-F2E4-83C08888DF44}"/>
              </a:ext>
            </a:extLst>
          </p:cNvPr>
          <p:cNvGrpSpPr/>
          <p:nvPr/>
        </p:nvGrpSpPr>
        <p:grpSpPr>
          <a:xfrm>
            <a:off x="505691" y="720897"/>
            <a:ext cx="10208430" cy="458908"/>
            <a:chOff x="470561" y="846388"/>
            <a:chExt cx="10208430" cy="458908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8E3B33BD-6008-BEFF-23E9-D1526EE2A5D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0561" y="962396"/>
              <a:ext cx="342900" cy="342900"/>
            </a:xfrm>
            <a:prstGeom prst="rect">
              <a:avLst/>
            </a:prstGeom>
          </p:spPr>
        </p:pic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13CAC36B-E25A-8190-042C-184F2C7ADEFF}"/>
                </a:ext>
              </a:extLst>
            </p:cNvPr>
            <p:cNvSpPr txBox="1"/>
            <p:nvPr/>
          </p:nvSpPr>
          <p:spPr>
            <a:xfrm>
              <a:off x="813461" y="846388"/>
              <a:ext cx="9865530" cy="458908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（</a:t>
              </a:r>
              <a:r>
                <a:rPr lang="en-US" altLang="zh-CN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2</a:t>
              </a:r>
              <a:r>
                <a:rPr lang="zh-CN" altLang="en-US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）螺丝尺寸目标检测 </a:t>
              </a:r>
              <a:r>
                <a:rPr lang="en-US" altLang="zh-CN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| Screw Size Object Detection</a:t>
              </a:r>
              <a:endPara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pic>
        <p:nvPicPr>
          <p:cNvPr id="10" name="图片 9" descr="文本&#10;&#10;描述已自动生成">
            <a:extLst>
              <a:ext uri="{FF2B5EF4-FFF2-40B4-BE49-F238E27FC236}">
                <a16:creationId xmlns:a16="http://schemas.microsoft.com/office/drawing/2014/main" id="{861BAC59-FAFE-D1D1-8A4F-EC647D25C5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591" y="1295812"/>
            <a:ext cx="10770754" cy="5253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9556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C181CB-5E34-2CB3-F573-2C4DA6274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E015A5D3-D344-E3F6-FACA-9DA9CB483EC0}"/>
              </a:ext>
            </a:extLst>
          </p:cNvPr>
          <p:cNvGrpSpPr/>
          <p:nvPr/>
        </p:nvGrpSpPr>
        <p:grpSpPr>
          <a:xfrm>
            <a:off x="496455" y="767079"/>
            <a:ext cx="10208430" cy="458908"/>
            <a:chOff x="470561" y="846388"/>
            <a:chExt cx="10208430" cy="458908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BBE3C250-137E-258F-7BC3-BC6A6038377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0561" y="962396"/>
              <a:ext cx="342900" cy="342900"/>
            </a:xfrm>
            <a:prstGeom prst="rect">
              <a:avLst/>
            </a:prstGeom>
          </p:spPr>
        </p:pic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E1467E9E-38FE-9B17-24DC-1CECB2570931}"/>
                </a:ext>
              </a:extLst>
            </p:cNvPr>
            <p:cNvSpPr txBox="1"/>
            <p:nvPr/>
          </p:nvSpPr>
          <p:spPr>
            <a:xfrm>
              <a:off x="813461" y="846388"/>
              <a:ext cx="9865530" cy="458908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（</a:t>
              </a:r>
              <a:r>
                <a:rPr lang="en-US" altLang="zh-CN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2</a:t>
              </a:r>
              <a:r>
                <a:rPr lang="zh-CN" altLang="en-US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）螺丝尺寸目标检测 </a:t>
              </a:r>
              <a:r>
                <a:rPr lang="en-US" altLang="zh-CN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| Screw Size Object Detection</a:t>
              </a:r>
              <a:endPara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pic>
        <p:nvPicPr>
          <p:cNvPr id="10" name="图片 9" descr="手机屏幕的截图&#10;&#10;低可信度描述已自动生成">
            <a:extLst>
              <a:ext uri="{FF2B5EF4-FFF2-40B4-BE49-F238E27FC236}">
                <a16:creationId xmlns:a16="http://schemas.microsoft.com/office/drawing/2014/main" id="{C11B4E40-3727-AC6F-3840-C570AC657E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7879" y="1392830"/>
            <a:ext cx="6529728" cy="5213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449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2C7EA1-8B4C-35BD-87F4-06EA9C9D6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B153DFE6-D793-63A6-8991-4B83ACD26B02}"/>
              </a:ext>
            </a:extLst>
          </p:cNvPr>
          <p:cNvGrpSpPr/>
          <p:nvPr/>
        </p:nvGrpSpPr>
        <p:grpSpPr>
          <a:xfrm>
            <a:off x="505691" y="859443"/>
            <a:ext cx="10208430" cy="458908"/>
            <a:chOff x="470561" y="846388"/>
            <a:chExt cx="10208430" cy="458908"/>
          </a:xfrm>
        </p:grpSpPr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885F51B3-BC88-D9D0-E8B3-277684C3B71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0561" y="962396"/>
              <a:ext cx="342900" cy="342900"/>
            </a:xfrm>
            <a:prstGeom prst="rect">
              <a:avLst/>
            </a:prstGeom>
          </p:spPr>
        </p:pic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331A4629-875C-025B-0F59-454F8F9BD07E}"/>
                </a:ext>
              </a:extLst>
            </p:cNvPr>
            <p:cNvSpPr txBox="1"/>
            <p:nvPr/>
          </p:nvSpPr>
          <p:spPr>
            <a:xfrm>
              <a:off x="813461" y="846388"/>
              <a:ext cx="9865530" cy="458908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（</a:t>
              </a:r>
              <a:r>
                <a:rPr lang="en-US" altLang="zh-CN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3</a:t>
              </a:r>
              <a:r>
                <a:rPr lang="zh-CN" altLang="en-US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）不同尺寸螺丝数量统计 </a:t>
              </a:r>
              <a:r>
                <a:rPr lang="en-US" altLang="zh-CN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| Counting Screws of Different Sizes</a:t>
              </a:r>
              <a:endPara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pic>
        <p:nvPicPr>
          <p:cNvPr id="3" name="图片 2" descr="文本&#10;&#10;描述已自动生成">
            <a:extLst>
              <a:ext uri="{FF2B5EF4-FFF2-40B4-BE49-F238E27FC236}">
                <a16:creationId xmlns:a16="http://schemas.microsoft.com/office/drawing/2014/main" id="{3825642F-9D21-9BF1-FEC9-149E22BD26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303" y="1634184"/>
            <a:ext cx="8792188" cy="1537648"/>
          </a:xfrm>
          <a:prstGeom prst="rect">
            <a:avLst/>
          </a:prstGeom>
        </p:spPr>
      </p:pic>
      <p:pic>
        <p:nvPicPr>
          <p:cNvPr id="11" name="图片 10" descr="文本&#10;&#10;低可信度描述已自动生成">
            <a:extLst>
              <a:ext uri="{FF2B5EF4-FFF2-40B4-BE49-F238E27FC236}">
                <a16:creationId xmlns:a16="http://schemas.microsoft.com/office/drawing/2014/main" id="{D97BD58A-CC33-DCE8-C563-3F8B46851B9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303" y="3487665"/>
            <a:ext cx="8918550" cy="2596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9085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2C7EA1-8B4C-35BD-87F4-06EA9C9D6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B153DFE6-D793-63A6-8991-4B83ACD26B02}"/>
              </a:ext>
            </a:extLst>
          </p:cNvPr>
          <p:cNvGrpSpPr/>
          <p:nvPr/>
        </p:nvGrpSpPr>
        <p:grpSpPr>
          <a:xfrm>
            <a:off x="505691" y="859443"/>
            <a:ext cx="10208430" cy="458908"/>
            <a:chOff x="470561" y="846388"/>
            <a:chExt cx="10208430" cy="458908"/>
          </a:xfrm>
        </p:grpSpPr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885F51B3-BC88-D9D0-E8B3-277684C3B71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0561" y="962396"/>
              <a:ext cx="342900" cy="342900"/>
            </a:xfrm>
            <a:prstGeom prst="rect">
              <a:avLst/>
            </a:prstGeom>
          </p:spPr>
        </p:pic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331A4629-875C-025B-0F59-454F8F9BD07E}"/>
                </a:ext>
              </a:extLst>
            </p:cNvPr>
            <p:cNvSpPr txBox="1"/>
            <p:nvPr/>
          </p:nvSpPr>
          <p:spPr>
            <a:xfrm>
              <a:off x="813461" y="846388"/>
              <a:ext cx="9865530" cy="458908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（</a:t>
              </a:r>
              <a:r>
                <a:rPr lang="en-US" altLang="zh-CN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3</a:t>
              </a:r>
              <a:r>
                <a:rPr lang="zh-CN" altLang="en-US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）不同尺寸螺丝数量统计 </a:t>
              </a:r>
              <a:r>
                <a:rPr lang="en-US" altLang="zh-CN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| Counting Screws of Different Sizes</a:t>
              </a:r>
              <a:endPara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pic>
        <p:nvPicPr>
          <p:cNvPr id="4" name="图片 3" descr="图形用户界面, 文本&#10;&#10;描述已自动生成">
            <a:extLst>
              <a:ext uri="{FF2B5EF4-FFF2-40B4-BE49-F238E27FC236}">
                <a16:creationId xmlns:a16="http://schemas.microsoft.com/office/drawing/2014/main" id="{CD86DAB9-D43B-BED2-7783-9A437AFC6D7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371" y="1654258"/>
            <a:ext cx="10567257" cy="1541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160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6CB187-B9A5-0420-330D-E0A3B3AC5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322D14E1-F79F-81A6-BD2F-8E4FBCEA3065}"/>
              </a:ext>
            </a:extLst>
          </p:cNvPr>
          <p:cNvGrpSpPr/>
          <p:nvPr/>
        </p:nvGrpSpPr>
        <p:grpSpPr>
          <a:xfrm>
            <a:off x="505691" y="859443"/>
            <a:ext cx="10208430" cy="458908"/>
            <a:chOff x="470561" y="846388"/>
            <a:chExt cx="10208430" cy="458908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56902B54-E986-1207-6CDA-F42A6D74032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0561" y="962396"/>
              <a:ext cx="342900" cy="342900"/>
            </a:xfrm>
            <a:prstGeom prst="rect">
              <a:avLst/>
            </a:prstGeom>
          </p:spPr>
        </p:pic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D889340F-00EB-04AC-5962-E229B71E5288}"/>
                </a:ext>
              </a:extLst>
            </p:cNvPr>
            <p:cNvSpPr txBox="1"/>
            <p:nvPr/>
          </p:nvSpPr>
          <p:spPr>
            <a:xfrm>
              <a:off x="813461" y="846388"/>
              <a:ext cx="9865530" cy="458908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（</a:t>
              </a:r>
              <a:r>
                <a:rPr lang="en-US" altLang="zh-CN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3</a:t>
              </a:r>
              <a:r>
                <a:rPr lang="zh-CN" altLang="en-US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）不同尺寸螺丝数量统计 </a:t>
              </a:r>
              <a:r>
                <a:rPr lang="en-US" altLang="zh-CN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| Counting Screws of Different Sizes</a:t>
              </a:r>
              <a:endPara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pic>
        <p:nvPicPr>
          <p:cNvPr id="9" name="图片 8" descr="手机屏幕的截图&#10;&#10;低可信度描述已自动生成">
            <a:extLst>
              <a:ext uri="{FF2B5EF4-FFF2-40B4-BE49-F238E27FC236}">
                <a16:creationId xmlns:a16="http://schemas.microsoft.com/office/drawing/2014/main" id="{96C35169-DA91-B1F1-F909-9BCFFBEBEFB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5836" y="1495004"/>
            <a:ext cx="6492782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4427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7BBE88-7587-5591-ADD9-12E1DAEE8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1CCB5BE5-BF3B-7901-AF4B-03E99D884F7B}"/>
              </a:ext>
            </a:extLst>
          </p:cNvPr>
          <p:cNvGrpSpPr/>
          <p:nvPr/>
        </p:nvGrpSpPr>
        <p:grpSpPr>
          <a:xfrm>
            <a:off x="505691" y="859443"/>
            <a:ext cx="10208430" cy="458908"/>
            <a:chOff x="470561" y="846388"/>
            <a:chExt cx="10208430" cy="458908"/>
          </a:xfrm>
        </p:grpSpPr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D186396F-21FC-487A-382D-8DDAB738104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0561" y="962396"/>
              <a:ext cx="342900" cy="342900"/>
            </a:xfrm>
            <a:prstGeom prst="rect">
              <a:avLst/>
            </a:prstGeom>
          </p:spPr>
        </p:pic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00F81039-1978-472E-7BE3-11E12B0DA86F}"/>
                </a:ext>
              </a:extLst>
            </p:cNvPr>
            <p:cNvSpPr txBox="1"/>
            <p:nvPr/>
          </p:nvSpPr>
          <p:spPr>
            <a:xfrm>
              <a:off x="813461" y="846388"/>
              <a:ext cx="9865530" cy="458908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（</a:t>
              </a:r>
              <a:r>
                <a:rPr lang="en-US" altLang="zh-CN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4</a:t>
              </a:r>
              <a:r>
                <a:rPr lang="zh-CN" altLang="en-US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）检测结果保存 </a:t>
              </a:r>
              <a:r>
                <a:rPr lang="en-US" altLang="zh-CN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| Save Detection Results</a:t>
              </a:r>
              <a:endPara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pic>
        <p:nvPicPr>
          <p:cNvPr id="4" name="图片 3" descr="文本&#10;&#10;描述已自动生成">
            <a:extLst>
              <a:ext uri="{FF2B5EF4-FFF2-40B4-BE49-F238E27FC236}">
                <a16:creationId xmlns:a16="http://schemas.microsoft.com/office/drawing/2014/main" id="{68AEFFF1-F646-3DC9-7AE7-8B91B4BF75E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591" y="1579578"/>
            <a:ext cx="10351303" cy="3001657"/>
          </a:xfrm>
          <a:prstGeom prst="rect">
            <a:avLst/>
          </a:prstGeom>
        </p:spPr>
      </p:pic>
      <p:pic>
        <p:nvPicPr>
          <p:cNvPr id="10" name="图片 9" descr="文本&#10;&#10;描述已自动生成">
            <a:extLst>
              <a:ext uri="{FF2B5EF4-FFF2-40B4-BE49-F238E27FC236}">
                <a16:creationId xmlns:a16="http://schemas.microsoft.com/office/drawing/2014/main" id="{501CB3DC-8AD7-CB02-3F7A-439D0A7AFD8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591" y="5056949"/>
            <a:ext cx="10258414" cy="1297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1835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DAA55E-2411-81DC-FFA3-C5E829FE3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A78ED1F3-3137-3503-96FF-A822920F91C6}"/>
              </a:ext>
            </a:extLst>
          </p:cNvPr>
          <p:cNvGrpSpPr/>
          <p:nvPr/>
        </p:nvGrpSpPr>
        <p:grpSpPr>
          <a:xfrm>
            <a:off x="516537" y="823795"/>
            <a:ext cx="11158926" cy="1689052"/>
            <a:chOff x="470561" y="792246"/>
            <a:chExt cx="11158926" cy="1689052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ABC89BFE-8E77-DF86-6A0E-B10FA8FEF9F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0561" y="962396"/>
              <a:ext cx="342900" cy="342900"/>
            </a:xfrm>
            <a:prstGeom prst="rect">
              <a:avLst/>
            </a:prstGeom>
          </p:spPr>
        </p:pic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43460B53-6D3F-BA75-CCD4-F90A37798CF6}"/>
                </a:ext>
              </a:extLst>
            </p:cNvPr>
            <p:cNvSpPr txBox="1"/>
            <p:nvPr/>
          </p:nvSpPr>
          <p:spPr>
            <a:xfrm>
              <a:off x="813461" y="792246"/>
              <a:ext cx="10816026" cy="168905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2400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多张图片中不同尺寸螺丝数量统计功能编程实现 </a:t>
              </a:r>
              <a:r>
                <a:rPr lang="en-US" altLang="zh-CN" sz="2400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| </a:t>
              </a:r>
              <a:r>
                <a:rPr lang="en-US" altLang="zh-CN" sz="2400" dirty="0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Programming Implementation of a Counting Function for Screws of Different Sizes in Multiple Images</a:t>
              </a:r>
              <a:endPara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pic>
        <p:nvPicPr>
          <p:cNvPr id="8" name="图片 7">
            <a:extLst>
              <a:ext uri="{FF2B5EF4-FFF2-40B4-BE49-F238E27FC236}">
                <a16:creationId xmlns:a16="http://schemas.microsoft.com/office/drawing/2014/main" id="{F534A6A0-1163-9150-50C1-58D6AB77C0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910" y="3092666"/>
            <a:ext cx="10894553" cy="2680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381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DDA325-3E59-2AF7-8A86-B2A92605E6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C70D729A-3350-2EEA-2501-A62BF16CAFF5}"/>
              </a:ext>
            </a:extLst>
          </p:cNvPr>
          <p:cNvGrpSpPr/>
          <p:nvPr/>
        </p:nvGrpSpPr>
        <p:grpSpPr>
          <a:xfrm>
            <a:off x="505691" y="776315"/>
            <a:ext cx="10208430" cy="458908"/>
            <a:chOff x="470561" y="846388"/>
            <a:chExt cx="10208430" cy="458908"/>
          </a:xfrm>
        </p:grpSpPr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5033D2F6-914C-38A1-28B6-CF4F842E2FE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0561" y="962396"/>
              <a:ext cx="342900" cy="342900"/>
            </a:xfrm>
            <a:prstGeom prst="rect">
              <a:avLst/>
            </a:prstGeom>
          </p:spPr>
        </p:pic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3538B9E5-B650-48CD-127B-5B7875D375A6}"/>
                </a:ext>
              </a:extLst>
            </p:cNvPr>
            <p:cNvSpPr txBox="1"/>
            <p:nvPr/>
          </p:nvSpPr>
          <p:spPr>
            <a:xfrm>
              <a:off x="813461" y="846388"/>
              <a:ext cx="9865530" cy="458908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完整的代码实现 </a:t>
              </a:r>
              <a:r>
                <a:rPr lang="en-US" altLang="zh-CN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| Complete Implementation in Code</a:t>
              </a:r>
              <a:endPara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pic>
        <p:nvPicPr>
          <p:cNvPr id="9" name="图片 8" descr="图形用户界面, 文本&#10;&#10;描述已自动生成">
            <a:extLst>
              <a:ext uri="{FF2B5EF4-FFF2-40B4-BE49-F238E27FC236}">
                <a16:creationId xmlns:a16="http://schemas.microsoft.com/office/drawing/2014/main" id="{B5CDDC7D-C713-B444-82E1-ECAA2751868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592" y="1466357"/>
            <a:ext cx="9237518" cy="4092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175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DDA325-3E59-2AF7-8A86-B2A92605E6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C70D729A-3350-2EEA-2501-A62BF16CAFF5}"/>
              </a:ext>
            </a:extLst>
          </p:cNvPr>
          <p:cNvGrpSpPr/>
          <p:nvPr/>
        </p:nvGrpSpPr>
        <p:grpSpPr>
          <a:xfrm>
            <a:off x="505691" y="776315"/>
            <a:ext cx="10208430" cy="458908"/>
            <a:chOff x="470561" y="846388"/>
            <a:chExt cx="10208430" cy="458908"/>
          </a:xfrm>
        </p:grpSpPr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5033D2F6-914C-38A1-28B6-CF4F842E2FE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0561" y="962396"/>
              <a:ext cx="342900" cy="342900"/>
            </a:xfrm>
            <a:prstGeom prst="rect">
              <a:avLst/>
            </a:prstGeom>
          </p:spPr>
        </p:pic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3538B9E5-B650-48CD-127B-5B7875D375A6}"/>
                </a:ext>
              </a:extLst>
            </p:cNvPr>
            <p:cNvSpPr txBox="1"/>
            <p:nvPr/>
          </p:nvSpPr>
          <p:spPr>
            <a:xfrm>
              <a:off x="813461" y="846388"/>
              <a:ext cx="9865530" cy="458908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完整的代码实现 </a:t>
              </a:r>
              <a:r>
                <a:rPr lang="en-US" altLang="zh-CN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| Complete Implementation in Code</a:t>
              </a:r>
              <a:endPara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pic>
        <p:nvPicPr>
          <p:cNvPr id="3" name="图片 2" descr="文本&#10;&#10;描述已自动生成">
            <a:extLst>
              <a:ext uri="{FF2B5EF4-FFF2-40B4-BE49-F238E27FC236}">
                <a16:creationId xmlns:a16="http://schemas.microsoft.com/office/drawing/2014/main" id="{04BF4014-12AE-ACBB-4AFD-11FE49991EC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517" y="1303092"/>
            <a:ext cx="9847619" cy="530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7401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DDA325-3E59-2AF7-8A86-B2A92605E6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文本&#10;&#10;描述已自动生成">
            <a:extLst>
              <a:ext uri="{FF2B5EF4-FFF2-40B4-BE49-F238E27FC236}">
                <a16:creationId xmlns:a16="http://schemas.microsoft.com/office/drawing/2014/main" id="{38D6EACA-7A8B-51E9-4667-54613A2DE3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591" y="1489484"/>
            <a:ext cx="9568781" cy="4818953"/>
          </a:xfrm>
          <a:prstGeom prst="rect">
            <a:avLst/>
          </a:prstGeom>
        </p:spPr>
      </p:pic>
      <p:grpSp>
        <p:nvGrpSpPr>
          <p:cNvPr id="12" name="组合 11">
            <a:extLst>
              <a:ext uri="{FF2B5EF4-FFF2-40B4-BE49-F238E27FC236}">
                <a16:creationId xmlns:a16="http://schemas.microsoft.com/office/drawing/2014/main" id="{87E0B3B7-B2EE-31F7-3CD2-87966CE309E0}"/>
              </a:ext>
            </a:extLst>
          </p:cNvPr>
          <p:cNvGrpSpPr/>
          <p:nvPr/>
        </p:nvGrpSpPr>
        <p:grpSpPr>
          <a:xfrm>
            <a:off x="505691" y="776315"/>
            <a:ext cx="10208430" cy="458908"/>
            <a:chOff x="470561" y="846388"/>
            <a:chExt cx="10208430" cy="458908"/>
          </a:xfrm>
        </p:grpSpPr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8D4D150E-31EF-6ADB-2ED4-9C106FF5C1C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0561" y="962396"/>
              <a:ext cx="342900" cy="342900"/>
            </a:xfrm>
            <a:prstGeom prst="rect">
              <a:avLst/>
            </a:prstGeom>
          </p:spPr>
        </p:pic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DC4AC068-F766-5DFD-0223-AA11A15F97B9}"/>
                </a:ext>
              </a:extLst>
            </p:cNvPr>
            <p:cNvSpPr txBox="1"/>
            <p:nvPr/>
          </p:nvSpPr>
          <p:spPr>
            <a:xfrm>
              <a:off x="813461" y="846388"/>
              <a:ext cx="9865530" cy="458908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完整的代码实现 </a:t>
              </a:r>
              <a:r>
                <a:rPr lang="en-US" altLang="zh-CN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| Complete Implementation in Code</a:t>
              </a:r>
              <a:endPara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21752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DDA325-3E59-2AF7-8A86-B2A92605E6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C70D729A-3350-2EEA-2501-A62BF16CAFF5}"/>
              </a:ext>
            </a:extLst>
          </p:cNvPr>
          <p:cNvGrpSpPr/>
          <p:nvPr/>
        </p:nvGrpSpPr>
        <p:grpSpPr>
          <a:xfrm>
            <a:off x="505691" y="776315"/>
            <a:ext cx="10208430" cy="458908"/>
            <a:chOff x="470561" y="846388"/>
            <a:chExt cx="10208430" cy="458908"/>
          </a:xfrm>
        </p:grpSpPr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5033D2F6-914C-38A1-28B6-CF4F842E2FE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0561" y="962396"/>
              <a:ext cx="342900" cy="342900"/>
            </a:xfrm>
            <a:prstGeom prst="rect">
              <a:avLst/>
            </a:prstGeom>
          </p:spPr>
        </p:pic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3538B9E5-B650-48CD-127B-5B7875D375A6}"/>
                </a:ext>
              </a:extLst>
            </p:cNvPr>
            <p:cNvSpPr txBox="1"/>
            <p:nvPr/>
          </p:nvSpPr>
          <p:spPr>
            <a:xfrm>
              <a:off x="813461" y="846388"/>
              <a:ext cx="9865530" cy="458908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完整的代码实现 </a:t>
              </a:r>
              <a:r>
                <a:rPr lang="en-US" altLang="zh-CN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| Complete Implementation in Code</a:t>
              </a:r>
              <a:endPara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pic>
        <p:nvPicPr>
          <p:cNvPr id="3" name="图片 2" descr="文本&#10;&#10;描述已自动生成">
            <a:extLst>
              <a:ext uri="{FF2B5EF4-FFF2-40B4-BE49-F238E27FC236}">
                <a16:creationId xmlns:a16="http://schemas.microsoft.com/office/drawing/2014/main" id="{72962DDC-B8B7-6945-4DAF-C34A563D70B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591" y="1351231"/>
            <a:ext cx="8406245" cy="5145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90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544432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E92F1C51-5715-03A8-A0C0-7E6586B4216A}"/>
              </a:ext>
            </a:extLst>
          </p:cNvPr>
          <p:cNvGrpSpPr/>
          <p:nvPr/>
        </p:nvGrpSpPr>
        <p:grpSpPr>
          <a:xfrm>
            <a:off x="628898" y="940405"/>
            <a:ext cx="9766386" cy="369332"/>
            <a:chOff x="470561" y="949180"/>
            <a:chExt cx="9766386" cy="369332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34BA3FF9-DFE8-10B4-EB29-C0121607A23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0561" y="962396"/>
              <a:ext cx="342900" cy="342900"/>
            </a:xfrm>
            <a:prstGeom prst="rect">
              <a:avLst/>
            </a:prstGeom>
          </p:spPr>
        </p:pic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DDB5A008-D591-AB13-3979-5701F64AF9BB}"/>
                </a:ext>
              </a:extLst>
            </p:cNvPr>
            <p:cNvSpPr txBox="1"/>
            <p:nvPr/>
          </p:nvSpPr>
          <p:spPr>
            <a:xfrm>
              <a:off x="813461" y="949180"/>
              <a:ext cx="9423486" cy="36933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zh-CN" altLang="en-US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基于计算机视觉的</a:t>
              </a:r>
              <a:r>
                <a:rPr lang="en-US" altLang="zh-CN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AI</a:t>
              </a:r>
              <a:r>
                <a:rPr lang="zh-CN" altLang="en-US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模型应用 </a:t>
              </a:r>
              <a:r>
                <a:rPr lang="en-US" altLang="zh-CN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| AI model applications based on computer vision</a:t>
              </a:r>
              <a:endPara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33399075-FBC8-915D-FE49-3E95B63BB713}"/>
              </a:ext>
            </a:extLst>
          </p:cNvPr>
          <p:cNvGrpSpPr/>
          <p:nvPr/>
        </p:nvGrpSpPr>
        <p:grpSpPr>
          <a:xfrm>
            <a:off x="628898" y="1993531"/>
            <a:ext cx="10831181" cy="3312396"/>
            <a:chOff x="1336222" y="1566409"/>
            <a:chExt cx="9567259" cy="2638061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7A9D691C-3FF8-FF3D-685F-4A98A3D156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36222" y="1566409"/>
              <a:ext cx="9567259" cy="2325038"/>
            </a:xfrm>
            <a:prstGeom prst="rect">
              <a:avLst/>
            </a:prstGeom>
          </p:spPr>
        </p:pic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437E96DC-1121-58DF-40D8-F63C246F35C5}"/>
                </a:ext>
              </a:extLst>
            </p:cNvPr>
            <p:cNvSpPr txBox="1"/>
            <p:nvPr/>
          </p:nvSpPr>
          <p:spPr>
            <a:xfrm>
              <a:off x="1523857" y="3896693"/>
              <a:ext cx="1190636" cy="307777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zh-CN" altLang="en-US" sz="1400" b="1" dirty="0">
                  <a:solidFill>
                    <a:srgbClr val="FE000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目标检测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9F1F0339-31EA-8865-70AC-89F08AB7FF35}"/>
                </a:ext>
              </a:extLst>
            </p:cNvPr>
            <p:cNvSpPr txBox="1"/>
            <p:nvPr/>
          </p:nvSpPr>
          <p:spPr>
            <a:xfrm>
              <a:off x="3048849" y="3891447"/>
              <a:ext cx="1190636" cy="307777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zh-CN" altLang="en-US" sz="1400" b="1" dirty="0">
                  <a:solidFill>
                    <a:srgbClr val="FE000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实例分割</a:t>
              </a: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2F9A8D3A-2585-0774-86D6-391EB58E8237}"/>
                </a:ext>
              </a:extLst>
            </p:cNvPr>
            <p:cNvSpPr txBox="1"/>
            <p:nvPr/>
          </p:nvSpPr>
          <p:spPr>
            <a:xfrm>
              <a:off x="4808704" y="3896693"/>
              <a:ext cx="10287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b="1" dirty="0">
                  <a:solidFill>
                    <a:srgbClr val="FE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分类检测</a:t>
              </a: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C322A463-A42F-91CC-17B9-3561C6306C64}"/>
                </a:ext>
              </a:extLst>
            </p:cNvPr>
            <p:cNvSpPr txBox="1"/>
            <p:nvPr/>
          </p:nvSpPr>
          <p:spPr>
            <a:xfrm>
              <a:off x="6414010" y="3896693"/>
              <a:ext cx="10287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b="1" dirty="0">
                  <a:solidFill>
                    <a:srgbClr val="FE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姿态估计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58F9BD13-D8B7-C466-0E42-B7AB51814B85}"/>
                </a:ext>
              </a:extLst>
            </p:cNvPr>
            <p:cNvSpPr txBox="1"/>
            <p:nvPr/>
          </p:nvSpPr>
          <p:spPr>
            <a:xfrm>
              <a:off x="7907189" y="3889605"/>
              <a:ext cx="133819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b="1" dirty="0">
                  <a:solidFill>
                    <a:srgbClr val="FE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方向物体检测</a:t>
              </a: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D590ECF8-4792-E79C-FD08-2FFA826AF951}"/>
                </a:ext>
              </a:extLst>
            </p:cNvPr>
            <p:cNvSpPr txBox="1"/>
            <p:nvPr/>
          </p:nvSpPr>
          <p:spPr>
            <a:xfrm>
              <a:off x="9648734" y="3896693"/>
              <a:ext cx="10287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b="1" dirty="0">
                  <a:solidFill>
                    <a:srgbClr val="FE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目标追踪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19345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A0FD7B-6A31-8321-1616-E7F73207E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8B1DDEB8-4687-FDB7-3198-B0FA22050296}"/>
              </a:ext>
            </a:extLst>
          </p:cNvPr>
          <p:cNvGrpSpPr/>
          <p:nvPr/>
        </p:nvGrpSpPr>
        <p:grpSpPr>
          <a:xfrm>
            <a:off x="628898" y="940405"/>
            <a:ext cx="9766386" cy="369332"/>
            <a:chOff x="470561" y="949180"/>
            <a:chExt cx="9766386" cy="369332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8C1671A0-7667-4CA2-4E3C-07946800304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0561" y="962396"/>
              <a:ext cx="342900" cy="342900"/>
            </a:xfrm>
            <a:prstGeom prst="rect">
              <a:avLst/>
            </a:prstGeom>
          </p:spPr>
        </p:pic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489358E3-117A-7591-974A-20B71036A056}"/>
                </a:ext>
              </a:extLst>
            </p:cNvPr>
            <p:cNvSpPr txBox="1"/>
            <p:nvPr/>
          </p:nvSpPr>
          <p:spPr>
            <a:xfrm>
              <a:off x="813461" y="949180"/>
              <a:ext cx="9423486" cy="36933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zh-CN" altLang="en-US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（</a:t>
              </a:r>
              <a:r>
                <a:rPr lang="en-US" altLang="zh-CN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1</a:t>
              </a:r>
              <a:r>
                <a:rPr lang="zh-CN" altLang="en-US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）目标检测 </a:t>
              </a:r>
              <a:r>
                <a:rPr lang="en-US" altLang="zh-CN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| Detect</a:t>
              </a:r>
              <a:endPara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7DF4260F-B66F-A97B-F58D-4074480C3BE5}"/>
              </a:ext>
            </a:extLst>
          </p:cNvPr>
          <p:cNvGrpSpPr/>
          <p:nvPr/>
        </p:nvGrpSpPr>
        <p:grpSpPr>
          <a:xfrm>
            <a:off x="971798" y="2481197"/>
            <a:ext cx="1679575" cy="2787015"/>
            <a:chOff x="1797" y="3471"/>
            <a:chExt cx="2645" cy="4389"/>
          </a:xfrm>
        </p:grpSpPr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D8B08B60-DD08-9EAD-46D0-990A30628F7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83100"/>
            <a:stretch>
              <a:fillRect/>
            </a:stretch>
          </p:blipFill>
          <p:spPr>
            <a:xfrm>
              <a:off x="1797" y="3471"/>
              <a:ext cx="2645" cy="3858"/>
            </a:xfrm>
            <a:prstGeom prst="rect">
              <a:avLst/>
            </a:prstGeom>
          </p:spPr>
        </p:pic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13502572-5303-4E15-3999-5AE421BC7078}"/>
                </a:ext>
              </a:extLst>
            </p:cNvPr>
            <p:cNvSpPr txBox="1"/>
            <p:nvPr/>
          </p:nvSpPr>
          <p:spPr>
            <a:xfrm>
              <a:off x="2309" y="7329"/>
              <a:ext cx="1620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b="1" dirty="0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目标检测</a:t>
              </a:r>
            </a:p>
          </p:txBody>
        </p:sp>
      </p:grpSp>
      <p:pic>
        <p:nvPicPr>
          <p:cNvPr id="9" name="图片 8">
            <a:extLst>
              <a:ext uri="{FF2B5EF4-FFF2-40B4-BE49-F238E27FC236}">
                <a16:creationId xmlns:a16="http://schemas.microsoft.com/office/drawing/2014/main" id="{BFEC67D2-E6C5-FA43-9A74-F230C7D8E0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4291" y="1855468"/>
            <a:ext cx="7585911" cy="4267075"/>
          </a:xfrm>
          <a:prstGeom prst="rect">
            <a:avLst/>
          </a:prstGeom>
          <a:ln w="38100">
            <a:solidFill>
              <a:srgbClr val="00B050"/>
            </a:solidFill>
          </a:ln>
        </p:spPr>
      </p:pic>
    </p:spTree>
    <p:extLst>
      <p:ext uri="{BB962C8B-B14F-4D97-AF65-F5344CB8AC3E}">
        <p14:creationId xmlns:p14="http://schemas.microsoft.com/office/powerpoint/2010/main" val="1975039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9CFF93-1FC1-6200-ECB5-47E0C2445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3A81DE2B-1C87-1B70-E9F8-CA8000C1EFBF}"/>
              </a:ext>
            </a:extLst>
          </p:cNvPr>
          <p:cNvGrpSpPr/>
          <p:nvPr/>
        </p:nvGrpSpPr>
        <p:grpSpPr>
          <a:xfrm>
            <a:off x="628898" y="940405"/>
            <a:ext cx="9766386" cy="369332"/>
            <a:chOff x="470561" y="949180"/>
            <a:chExt cx="9766386" cy="369332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77F0A2AA-AFEC-5EA6-D6E7-E86D2707217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0561" y="962396"/>
              <a:ext cx="342900" cy="342900"/>
            </a:xfrm>
            <a:prstGeom prst="rect">
              <a:avLst/>
            </a:prstGeom>
          </p:spPr>
        </p:pic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CF7DCFCB-C68E-BDA2-EC0E-5AA7D88A310F}"/>
                </a:ext>
              </a:extLst>
            </p:cNvPr>
            <p:cNvSpPr txBox="1"/>
            <p:nvPr/>
          </p:nvSpPr>
          <p:spPr>
            <a:xfrm>
              <a:off x="813461" y="949180"/>
              <a:ext cx="9423486" cy="36933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zh-CN" altLang="en-US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（</a:t>
              </a:r>
              <a:r>
                <a:rPr lang="en-US" altLang="zh-CN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2</a:t>
              </a:r>
              <a:r>
                <a:rPr lang="zh-CN" altLang="en-US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）图像分割 </a:t>
              </a:r>
              <a:r>
                <a:rPr lang="en-US" altLang="zh-CN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| Segment</a:t>
              </a:r>
              <a:endPara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933359BD-3C2C-B40A-3AEC-ED6C9EA2B615}"/>
              </a:ext>
            </a:extLst>
          </p:cNvPr>
          <p:cNvGrpSpPr/>
          <p:nvPr/>
        </p:nvGrpSpPr>
        <p:grpSpPr>
          <a:xfrm>
            <a:off x="1156282" y="2718925"/>
            <a:ext cx="1651635" cy="2852420"/>
            <a:chOff x="4442" y="3471"/>
            <a:chExt cx="2601" cy="4492"/>
          </a:xfrm>
        </p:grpSpPr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6534A70C-68E9-D901-7FC6-B385B60F86B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6900" r="66481"/>
            <a:stretch>
              <a:fillRect/>
            </a:stretch>
          </p:blipFill>
          <p:spPr>
            <a:xfrm>
              <a:off x="4442" y="3471"/>
              <a:ext cx="2601" cy="3858"/>
            </a:xfrm>
            <a:prstGeom prst="rect">
              <a:avLst/>
            </a:prstGeom>
          </p:spPr>
        </p:pic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F7AC8EED-2EDF-A748-A700-0ED76032BA15}"/>
                </a:ext>
              </a:extLst>
            </p:cNvPr>
            <p:cNvSpPr txBox="1"/>
            <p:nvPr/>
          </p:nvSpPr>
          <p:spPr>
            <a:xfrm>
              <a:off x="4910" y="7432"/>
              <a:ext cx="1620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b="1" dirty="0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图像分割</a:t>
              </a:r>
            </a:p>
          </p:txBody>
        </p:sp>
      </p:grpSp>
      <p:pic>
        <p:nvPicPr>
          <p:cNvPr id="12" name="图片 11">
            <a:extLst>
              <a:ext uri="{FF2B5EF4-FFF2-40B4-BE49-F238E27FC236}">
                <a16:creationId xmlns:a16="http://schemas.microsoft.com/office/drawing/2014/main" id="{60D26C52-E618-92A3-14A4-DB99E25C2A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7916" y="1952569"/>
            <a:ext cx="7453563" cy="4192629"/>
          </a:xfrm>
          <a:prstGeom prst="rect">
            <a:avLst/>
          </a:prstGeom>
          <a:ln w="38100">
            <a:solidFill>
              <a:srgbClr val="00B050"/>
            </a:solidFill>
          </a:ln>
        </p:spPr>
      </p:pic>
    </p:spTree>
    <p:extLst>
      <p:ext uri="{BB962C8B-B14F-4D97-AF65-F5344CB8AC3E}">
        <p14:creationId xmlns:p14="http://schemas.microsoft.com/office/powerpoint/2010/main" val="9406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C1351-BFFD-25C7-F5D5-0FCBD28FEF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7E251FFA-CBF8-D127-8CAE-4F29CF8A2AB8}"/>
              </a:ext>
            </a:extLst>
          </p:cNvPr>
          <p:cNvGrpSpPr/>
          <p:nvPr/>
        </p:nvGrpSpPr>
        <p:grpSpPr>
          <a:xfrm>
            <a:off x="628898" y="940405"/>
            <a:ext cx="9766386" cy="369332"/>
            <a:chOff x="470561" y="949180"/>
            <a:chExt cx="9766386" cy="369332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60420557-0FE0-FD9D-4326-7AD270E6894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0561" y="962396"/>
              <a:ext cx="342900" cy="342900"/>
            </a:xfrm>
            <a:prstGeom prst="rect">
              <a:avLst/>
            </a:prstGeom>
          </p:spPr>
        </p:pic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0BA53754-CD68-7E76-02B6-97AC26482F39}"/>
                </a:ext>
              </a:extLst>
            </p:cNvPr>
            <p:cNvSpPr txBox="1"/>
            <p:nvPr/>
          </p:nvSpPr>
          <p:spPr>
            <a:xfrm>
              <a:off x="813461" y="949180"/>
              <a:ext cx="9423486" cy="36933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zh-CN" altLang="en-US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（</a:t>
              </a:r>
              <a:r>
                <a:rPr lang="en-US" altLang="zh-CN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3</a:t>
              </a:r>
              <a:r>
                <a:rPr lang="zh-CN" altLang="en-US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）分类检测 </a:t>
              </a:r>
              <a:r>
                <a:rPr lang="en-US" altLang="zh-CN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| Classify</a:t>
              </a:r>
              <a:endPara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87B5898A-7D46-AC60-4D66-623CF886A71C}"/>
              </a:ext>
            </a:extLst>
          </p:cNvPr>
          <p:cNvGrpSpPr/>
          <p:nvPr/>
        </p:nvGrpSpPr>
        <p:grpSpPr>
          <a:xfrm>
            <a:off x="1258551" y="2699345"/>
            <a:ext cx="1638300" cy="2852420"/>
            <a:chOff x="7043" y="3471"/>
            <a:chExt cx="2580" cy="4492"/>
          </a:xfrm>
        </p:grpSpPr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E7B52E84-F5D0-3954-E077-63F8439DC42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33519" r="49997"/>
            <a:stretch>
              <a:fillRect/>
            </a:stretch>
          </p:blipFill>
          <p:spPr>
            <a:xfrm>
              <a:off x="7043" y="3471"/>
              <a:ext cx="2580" cy="3858"/>
            </a:xfrm>
            <a:prstGeom prst="rect">
              <a:avLst/>
            </a:prstGeom>
          </p:spPr>
        </p:pic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FD38F633-85BD-3F39-01B4-406DB13C000C}"/>
                </a:ext>
              </a:extLst>
            </p:cNvPr>
            <p:cNvSpPr txBox="1"/>
            <p:nvPr/>
          </p:nvSpPr>
          <p:spPr>
            <a:xfrm>
              <a:off x="7551" y="7432"/>
              <a:ext cx="1620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b="1" dirty="0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分类检测</a:t>
              </a:r>
            </a:p>
          </p:txBody>
        </p:sp>
      </p:grpSp>
      <p:pic>
        <p:nvPicPr>
          <p:cNvPr id="9" name="图片 8">
            <a:extLst>
              <a:ext uri="{FF2B5EF4-FFF2-40B4-BE49-F238E27FC236}">
                <a16:creationId xmlns:a16="http://schemas.microsoft.com/office/drawing/2014/main" id="{8A12AB24-6537-D172-1DF1-9793669E8F1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9442" y="1654174"/>
            <a:ext cx="6978979" cy="4640279"/>
          </a:xfrm>
          <a:prstGeom prst="rect">
            <a:avLst/>
          </a:prstGeom>
          <a:ln w="38100">
            <a:solidFill>
              <a:srgbClr val="00B050"/>
            </a:solidFill>
          </a:ln>
        </p:spPr>
      </p:pic>
    </p:spTree>
    <p:extLst>
      <p:ext uri="{BB962C8B-B14F-4D97-AF65-F5344CB8AC3E}">
        <p14:creationId xmlns:p14="http://schemas.microsoft.com/office/powerpoint/2010/main" val="2376558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F01A7-3BB9-566D-C1F5-FC86A3FF6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EF253E80-35AE-7686-7383-3C1F42FD4650}"/>
              </a:ext>
            </a:extLst>
          </p:cNvPr>
          <p:cNvGrpSpPr/>
          <p:nvPr/>
        </p:nvGrpSpPr>
        <p:grpSpPr>
          <a:xfrm>
            <a:off x="628898" y="940405"/>
            <a:ext cx="9766386" cy="369332"/>
            <a:chOff x="470561" y="949180"/>
            <a:chExt cx="9766386" cy="369332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909AEA98-EAD3-F322-5E25-CC8E39E41A3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0561" y="962396"/>
              <a:ext cx="342900" cy="342900"/>
            </a:xfrm>
            <a:prstGeom prst="rect">
              <a:avLst/>
            </a:prstGeom>
          </p:spPr>
        </p:pic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9985D77D-6CB3-932B-E97E-9ACE92D7DA89}"/>
                </a:ext>
              </a:extLst>
            </p:cNvPr>
            <p:cNvSpPr txBox="1"/>
            <p:nvPr/>
          </p:nvSpPr>
          <p:spPr>
            <a:xfrm>
              <a:off x="813461" y="949180"/>
              <a:ext cx="9423486" cy="36933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zh-CN" altLang="en-US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（</a:t>
              </a:r>
              <a:r>
                <a:rPr lang="en-US" altLang="zh-CN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4</a:t>
              </a:r>
              <a:r>
                <a:rPr lang="zh-CN" altLang="en-US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）姿态估计 </a:t>
              </a:r>
              <a:r>
                <a:rPr lang="en-US" altLang="zh-CN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| Pose</a:t>
              </a:r>
              <a:endPara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0B7C831D-D7D7-FFFF-BAFF-4D8AA7B773F9}"/>
              </a:ext>
            </a:extLst>
          </p:cNvPr>
          <p:cNvGrpSpPr/>
          <p:nvPr/>
        </p:nvGrpSpPr>
        <p:grpSpPr>
          <a:xfrm>
            <a:off x="1559340" y="2627301"/>
            <a:ext cx="1646555" cy="2787015"/>
            <a:chOff x="9623" y="3471"/>
            <a:chExt cx="2593" cy="4389"/>
          </a:xfrm>
        </p:grpSpPr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D0A16DA9-0DC0-862C-C99E-F0714B27C75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50003" r="33429"/>
            <a:stretch>
              <a:fillRect/>
            </a:stretch>
          </p:blipFill>
          <p:spPr>
            <a:xfrm>
              <a:off x="9623" y="3471"/>
              <a:ext cx="2593" cy="3858"/>
            </a:xfrm>
            <a:prstGeom prst="rect">
              <a:avLst/>
            </a:prstGeom>
          </p:spPr>
        </p:pic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D6931DB5-D146-C064-3124-551E18EB85CF}"/>
                </a:ext>
              </a:extLst>
            </p:cNvPr>
            <p:cNvSpPr txBox="1"/>
            <p:nvPr/>
          </p:nvSpPr>
          <p:spPr>
            <a:xfrm>
              <a:off x="10109" y="7329"/>
              <a:ext cx="1620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b="1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姿态估计</a:t>
              </a:r>
            </a:p>
          </p:txBody>
        </p:sp>
      </p:grpSp>
      <p:pic>
        <p:nvPicPr>
          <p:cNvPr id="12" name="图片 11">
            <a:extLst>
              <a:ext uri="{FF2B5EF4-FFF2-40B4-BE49-F238E27FC236}">
                <a16:creationId xmlns:a16="http://schemas.microsoft.com/office/drawing/2014/main" id="{DAE70F02-7532-5448-D8DE-0722085601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9153" y="1828450"/>
            <a:ext cx="6840338" cy="4275212"/>
          </a:xfrm>
          <a:prstGeom prst="rect">
            <a:avLst/>
          </a:prstGeom>
          <a:ln w="38100">
            <a:solidFill>
              <a:srgbClr val="00B050"/>
            </a:solidFill>
          </a:ln>
        </p:spPr>
      </p:pic>
    </p:spTree>
    <p:extLst>
      <p:ext uri="{BB962C8B-B14F-4D97-AF65-F5344CB8AC3E}">
        <p14:creationId xmlns:p14="http://schemas.microsoft.com/office/powerpoint/2010/main" val="1371307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4F94E6-A4C1-192A-E1E3-FA0EF34A1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1658E53C-FE88-7CEF-74CD-C3D9FD242FE1}"/>
              </a:ext>
            </a:extLst>
          </p:cNvPr>
          <p:cNvGrpSpPr/>
          <p:nvPr/>
        </p:nvGrpSpPr>
        <p:grpSpPr>
          <a:xfrm>
            <a:off x="628898" y="940405"/>
            <a:ext cx="9766386" cy="369332"/>
            <a:chOff x="470561" y="949180"/>
            <a:chExt cx="9766386" cy="369332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1204DB85-B35F-8236-F80F-239947F5071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0561" y="962396"/>
              <a:ext cx="342900" cy="342900"/>
            </a:xfrm>
            <a:prstGeom prst="rect">
              <a:avLst/>
            </a:prstGeom>
          </p:spPr>
        </p:pic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580C6775-F580-F090-FB9A-E74B2FE60E84}"/>
                </a:ext>
              </a:extLst>
            </p:cNvPr>
            <p:cNvSpPr txBox="1"/>
            <p:nvPr/>
          </p:nvSpPr>
          <p:spPr>
            <a:xfrm>
              <a:off x="813461" y="949180"/>
              <a:ext cx="9423486" cy="36933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zh-CN" altLang="en-US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（</a:t>
              </a:r>
              <a:r>
                <a:rPr lang="en-US" altLang="zh-CN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5</a:t>
              </a:r>
              <a:r>
                <a:rPr lang="zh-CN" altLang="en-US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）方向物体检测 </a:t>
              </a:r>
              <a:r>
                <a:rPr lang="en-US" altLang="zh-CN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| OBB</a:t>
              </a:r>
              <a:endPara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E8A8FB01-BC3D-FEFC-61ED-B663C8F4C152}"/>
              </a:ext>
            </a:extLst>
          </p:cNvPr>
          <p:cNvGrpSpPr/>
          <p:nvPr/>
        </p:nvGrpSpPr>
        <p:grpSpPr>
          <a:xfrm>
            <a:off x="1186361" y="2601691"/>
            <a:ext cx="1656080" cy="2787015"/>
            <a:chOff x="12202" y="3471"/>
            <a:chExt cx="2608" cy="4389"/>
          </a:xfrm>
        </p:grpSpPr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B0F06149-7515-25A1-DBD4-8CAD40A9A07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66481" r="16855"/>
            <a:stretch>
              <a:fillRect/>
            </a:stretch>
          </p:blipFill>
          <p:spPr>
            <a:xfrm>
              <a:off x="12202" y="3471"/>
              <a:ext cx="2608" cy="3858"/>
            </a:xfrm>
            <a:prstGeom prst="rect">
              <a:avLst/>
            </a:prstGeom>
          </p:spPr>
        </p:pic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A702CEE9-3B5C-14F7-C83B-B53479BD11EF}"/>
                </a:ext>
              </a:extLst>
            </p:cNvPr>
            <p:cNvSpPr txBox="1"/>
            <p:nvPr/>
          </p:nvSpPr>
          <p:spPr>
            <a:xfrm>
              <a:off x="12338" y="7329"/>
              <a:ext cx="2335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b="1" dirty="0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方向物体检测</a:t>
              </a:r>
            </a:p>
          </p:txBody>
        </p:sp>
      </p:grpSp>
      <p:pic>
        <p:nvPicPr>
          <p:cNvPr id="9" name="图片 8">
            <a:extLst>
              <a:ext uri="{FF2B5EF4-FFF2-40B4-BE49-F238E27FC236}">
                <a16:creationId xmlns:a16="http://schemas.microsoft.com/office/drawing/2014/main" id="{224745FE-8AB4-31D6-5D13-84BED25F090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0483" y="1805371"/>
            <a:ext cx="7555206" cy="4249273"/>
          </a:xfrm>
          <a:prstGeom prst="rect">
            <a:avLst/>
          </a:prstGeom>
          <a:ln w="38100">
            <a:solidFill>
              <a:srgbClr val="00B050"/>
            </a:solidFill>
          </a:ln>
        </p:spPr>
      </p:pic>
    </p:spTree>
    <p:extLst>
      <p:ext uri="{BB962C8B-B14F-4D97-AF65-F5344CB8AC3E}">
        <p14:creationId xmlns:p14="http://schemas.microsoft.com/office/powerpoint/2010/main" val="4072947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3CB909-6C61-1F6B-9D81-D9C1219A9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358CC054-9EC1-6A36-9DE0-DFBDD98A12A4}"/>
              </a:ext>
            </a:extLst>
          </p:cNvPr>
          <p:cNvGrpSpPr/>
          <p:nvPr/>
        </p:nvGrpSpPr>
        <p:grpSpPr>
          <a:xfrm>
            <a:off x="628898" y="940405"/>
            <a:ext cx="9766386" cy="369332"/>
            <a:chOff x="470561" y="949180"/>
            <a:chExt cx="9766386" cy="369332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A1496C03-79C7-F267-FB86-7280500CBD5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0561" y="962396"/>
              <a:ext cx="342900" cy="342900"/>
            </a:xfrm>
            <a:prstGeom prst="rect">
              <a:avLst/>
            </a:prstGeom>
          </p:spPr>
        </p:pic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65A23E0B-7288-04D5-52E3-A5AA6DFE9059}"/>
                </a:ext>
              </a:extLst>
            </p:cNvPr>
            <p:cNvSpPr txBox="1"/>
            <p:nvPr/>
          </p:nvSpPr>
          <p:spPr>
            <a:xfrm>
              <a:off x="813461" y="949180"/>
              <a:ext cx="9423486" cy="36933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zh-CN" altLang="en-US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（</a:t>
              </a:r>
              <a:r>
                <a:rPr lang="en-US" altLang="zh-CN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6</a:t>
              </a:r>
              <a:r>
                <a:rPr lang="zh-CN" altLang="en-US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）目标追踪 </a:t>
              </a:r>
              <a:r>
                <a:rPr lang="en-US" altLang="zh-CN" dirty="0">
                  <a:solidFill>
                    <a:srgbClr val="0070C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| Track</a:t>
              </a:r>
              <a:endPara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0416F0B2-DBD7-1B47-465C-364FD92E25ED}"/>
              </a:ext>
            </a:extLst>
          </p:cNvPr>
          <p:cNvGrpSpPr/>
          <p:nvPr/>
        </p:nvGrpSpPr>
        <p:grpSpPr>
          <a:xfrm>
            <a:off x="1312693" y="2661697"/>
            <a:ext cx="1675130" cy="2787015"/>
            <a:chOff x="14810" y="3471"/>
            <a:chExt cx="2638" cy="4389"/>
          </a:xfrm>
        </p:grpSpPr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E1F2D73A-2DA4-9F0E-01C2-DED21E6598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83145"/>
            <a:stretch>
              <a:fillRect/>
            </a:stretch>
          </p:blipFill>
          <p:spPr>
            <a:xfrm>
              <a:off x="14810" y="3471"/>
              <a:ext cx="2638" cy="3858"/>
            </a:xfrm>
            <a:prstGeom prst="rect">
              <a:avLst/>
            </a:prstGeom>
          </p:spPr>
        </p:pic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753F6510-FDA6-B363-B5F8-C51D0323E5FC}"/>
                </a:ext>
              </a:extLst>
            </p:cNvPr>
            <p:cNvSpPr txBox="1"/>
            <p:nvPr/>
          </p:nvSpPr>
          <p:spPr>
            <a:xfrm>
              <a:off x="15319" y="7329"/>
              <a:ext cx="1620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b="1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目标追踪</a:t>
              </a:r>
            </a:p>
          </p:txBody>
        </p:sp>
      </p:grpSp>
      <p:pic>
        <p:nvPicPr>
          <p:cNvPr id="12" name="图片 11">
            <a:extLst>
              <a:ext uri="{FF2B5EF4-FFF2-40B4-BE49-F238E27FC236}">
                <a16:creationId xmlns:a16="http://schemas.microsoft.com/office/drawing/2014/main" id="{D4ECD3DC-AC3D-F92E-DFC1-590935EBF1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1768" y="1811689"/>
            <a:ext cx="7702216" cy="4332496"/>
          </a:xfrm>
          <a:prstGeom prst="rect">
            <a:avLst/>
          </a:prstGeom>
          <a:ln w="38100">
            <a:solidFill>
              <a:srgbClr val="00B050"/>
            </a:solidFill>
          </a:ln>
        </p:spPr>
      </p:pic>
    </p:spTree>
    <p:extLst>
      <p:ext uri="{BB962C8B-B14F-4D97-AF65-F5344CB8AC3E}">
        <p14:creationId xmlns:p14="http://schemas.microsoft.com/office/powerpoint/2010/main" val="4197801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756710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0.38543307086616,&quot;left&quot;:401.67952755905515,&quot;top&quot;:149.2896062992126,&quot;width&quot;:514.9204724409449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0.38543307086616,&quot;left&quot;:401.67952755905515,&quot;top&quot;:149.2896062992126,&quot;width&quot;:514.9204724409449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0.38543307086616,&quot;left&quot;:401.67952755905515,&quot;top&quot;:149.2896062992126,&quot;width&quot;:514.9204724409449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0.38543307086616,&quot;left&quot;:401.67952755905515,&quot;top&quot;:149.2896062992126,&quot;width&quot;:514.9204724409449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0.38543307086616,&quot;left&quot;:401.67952755905515,&quot;top&quot;:149.2896062992126,&quot;width&quot;:514.9204724409449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0.38543307086616,&quot;left&quot;:401.67952755905515,&quot;top&quot;:149.2896062992126,&quot;width&quot;:514.9204724409449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0.38543307086616,&quot;left&quot;:401.67952755905515,&quot;top&quot;:149.2896062992126,&quot;width&quot;:514.9204724409449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0.38543307086616,&quot;left&quot;:401.67952755905515,&quot;top&quot;:149.2896062992126,&quot;width&quot;:514.9204724409449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0.38543307086616,&quot;left&quot;:401.67952755905515,&quot;top&quot;:149.2896062992126,&quot;width&quot;:514.9204724409449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0.38543307086616,&quot;left&quot;:401.67952755905515,&quot;top&quot;:149.2896062992126,&quot;width&quot;:514.9204724409449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0.38543307086616,&quot;left&quot;:401.67952755905515,&quot;top&quot;:149.2896062992126,&quot;width&quot;:514.9204724409449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0.38543307086616,&quot;left&quot;:401.67952755905515,&quot;top&quot;:149.2896062992126,&quot;width&quot;:514.9204724409449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0.38543307086616,&quot;left&quot;:401.67952755905515,&quot;top&quot;:149.2896062992126,&quot;width&quot;:514.9204724409449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0.38543307086616,&quot;left&quot;:401.67952755905515,&quot;top&quot;:149.2896062992126,&quot;width&quot;:514.9204724409449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0.38543307086616,&quot;left&quot;:401.67952755905515,&quot;top&quot;:149.2896062992126,&quot;width&quot;:514.9204724409449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0.38543307086616,&quot;left&quot;:401.67952755905515,&quot;top&quot;:149.2896062992126,&quot;width&quot;:514.9204724409449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0.38543307086616,&quot;left&quot;:401.67952755905515,&quot;top&quot;:149.2896062992126,&quot;width&quot;:514.9204724409449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0.38543307086616,&quot;left&quot;:401.67952755905515,&quot;top&quot;:149.2896062992126,&quot;width&quot;:514.9204724409449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0.38543307086616,&quot;left&quot;:401.67952755905515,&quot;top&quot;:149.2896062992126,&quot;width&quot;:514.9204724409449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0.38543307086616,&quot;left&quot;:401.67952755905515,&quot;top&quot;:149.2896062992126,&quot;width&quot;:514.9204724409449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0.38543307086616,&quot;left&quot;:401.67952755905515,&quot;top&quot;:149.2896062992126,&quot;width&quot;:514.9204724409449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0.38543307086616,&quot;left&quot;:401.67952755905515,&quot;top&quot;:149.2896062992126,&quot;width&quot;:514.9204724409449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0.38543307086616,&quot;left&quot;:401.67952755905515,&quot;top&quot;:149.2896062992126,&quot;width&quot;:514.9204724409449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0.38543307086616,&quot;left&quot;:401.67952755905515,&quot;top&quot;:149.2896062992126,&quot;width&quot;:514.9204724409449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0.38543307086616,&quot;left&quot;:401.67952755905515,&quot;top&quot;:149.2896062992126,&quot;width&quot;:514.9204724409449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0.38543307086616,&quot;left&quot;:401.67952755905515,&quot;top&quot;:149.2896062992126,&quot;width&quot;:514.9204724409449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0.38543307086616,&quot;left&quot;:401.67952755905515,&quot;top&quot;:149.2896062992126,&quot;width&quot;:514.9204724409449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0.38543307086616,&quot;left&quot;:401.67952755905515,&quot;top&quot;:149.2896062992126,&quot;width&quot;:514.9204724409449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0.38543307086616,&quot;left&quot;:401.67952755905515,&quot;top&quot;:149.2896062992126,&quot;width&quot;:514.9204724409449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0.38543307086616,&quot;left&quot;:401.67952755905515,&quot;top&quot;:149.2896062992126,&quot;width&quot;:514.9204724409449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0.38543307086616,&quot;left&quot;:401.67952755905515,&quot;top&quot;:149.2896062992126,&quot;width&quot;:514.9204724409449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0.38543307086616,&quot;left&quot;:401.67952755905515,&quot;top&quot;:149.2896062992126,&quot;width&quot;:514.9204724409449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0.38543307086616,&quot;left&quot;:401.67952755905515,&quot;top&quot;:149.2896062992126,&quot;width&quot;:514.9204724409449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0.38543307086616,&quot;left&quot;:401.67952755905515,&quot;top&quot;:149.2896062992126,&quot;width&quot;:514.9204724409449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0.38543307086616,&quot;left&quot;:401.67952755905515,&quot;top&quot;:149.2896062992126,&quot;width&quot;:514.9204724409449}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1973_1*l_h_f*1_1_1"/>
  <p:tag name="KSO_WM_TEMPLATE_CATEGORY" val="diagram"/>
  <p:tag name="KSO_WM_TEMPLATE_INDEX" val="20231973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26.55003326656316,&quot;left&quot;:52.12501220703125,&quot;top&quot;:205.77500610351564,&quot;width&quot;:850.37498779296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132"/>
  <p:tag name="KSO_WM_UNIT_TEXT_TYPE" val="1"/>
  <p:tag name="KSO_WM_UNIT_TEXT_LAYER_COUNT" val="1"/>
  <p:tag name="KSO_WM_UNIT_PRESET_TEXT" val="单击此处添加正文，文字是您思想的提炼，请言简意赅的阐述您的观点。单击此处添加正文，文字是您思想的提炼，请言简意赅的阐述您的观点。单击此处添加正文，文字是您思想的提炼，请言简意赅的阐述您的观点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Title"/>
  <p:tag name="OP_SCP_ITEM_INDEX" val="1"/>
  <p:tag name="OP_SCP_DEFAULT_TEXT" val="添加标题"/>
</p:tagLst>
</file>

<file path=ppt/theme/theme1.xml><?xml version="1.0" encoding="utf-8"?>
<a:theme xmlns:a="http://schemas.openxmlformats.org/drawingml/2006/main" name="课件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8502</TotalTime>
  <Words>456</Words>
  <Application>Microsoft Office PowerPoint</Application>
  <PresentationFormat>宽屏</PresentationFormat>
  <Paragraphs>73</Paragraphs>
  <Slides>35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35</vt:i4>
      </vt:variant>
    </vt:vector>
  </HeadingPairs>
  <TitlesOfParts>
    <vt:vector size="39" baseType="lpstr">
      <vt:lpstr>等线</vt:lpstr>
      <vt:lpstr>微软雅黑</vt:lpstr>
      <vt:lpstr>Arial</vt:lpstr>
      <vt:lpstr>课件主题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昌乐 余</dc:creator>
  <cp:lastModifiedBy>昌乐 余</cp:lastModifiedBy>
  <cp:revision>2542</cp:revision>
  <dcterms:created xsi:type="dcterms:W3CDTF">2025-06-28T12:32:25Z</dcterms:created>
  <dcterms:modified xsi:type="dcterms:W3CDTF">2026-07-02T02:18:34Z</dcterms:modified>
</cp:coreProperties>
</file>